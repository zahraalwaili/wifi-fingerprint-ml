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6" r:id="rId4"/>
  </p:sldMasterIdLst>
  <p:notesMasterIdLst>
    <p:notesMasterId r:id="rId24"/>
  </p:notesMasterIdLst>
  <p:sldIdLst>
    <p:sldId id="256" r:id="rId5"/>
    <p:sldId id="258" r:id="rId6"/>
    <p:sldId id="276" r:id="rId7"/>
    <p:sldId id="261" r:id="rId8"/>
    <p:sldId id="262" r:id="rId9"/>
    <p:sldId id="277" r:id="rId10"/>
    <p:sldId id="278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BA5A6D-8BA0-471B-BE38-D060EA2C1C7B}" v="32" dt="2026-04-04T17:42:58.269"/>
    <p1510:client id="{26E6C770-1734-6239-118F-986832371302}" v="33" dt="2026-04-04T17:33:27.598"/>
    <p1510:client id="{B5993A70-6117-7BC3-0055-F186279A097F}" v="565" dt="2026-04-05T10:59:53.025"/>
    <p1510:client id="{C45FB4BD-A41D-C269-46A4-AE71A08C29BA}" v="30" dt="2026-04-04T17:36:49.5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F_0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10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Classification Accuracy &amp; F1-Score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A56D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Decision Tree (M1)</c:v>
                </c:pt>
                <c:pt idx="1">
                  <c:v>Neural Net MLP (M2)</c:v>
                </c:pt>
                <c:pt idx="2">
                  <c:v>Logistic Reg (M3)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0.7228</c:v>
                </c:pt>
                <c:pt idx="1">
                  <c:v>0.87760000000000005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1A-4874-9BC2-FD53A4599CF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0E9F6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Decision Tree (M1)</c:v>
                </c:pt>
                <c:pt idx="1">
                  <c:v>Neural Net MLP (M2)</c:v>
                </c:pt>
                <c:pt idx="2">
                  <c:v>Logistic Reg (M3)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0.73080000000000001</c:v>
                </c:pt>
                <c:pt idx="1">
                  <c:v>0.87849999999999995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21A-4874-9BC2-FD53A4599CF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0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RMSE and MAE (meters) — Lower is Better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(meters)</c:v>
                </c:pt>
              </c:strCache>
            </c:strRef>
          </c:tx>
          <c:spPr>
            <a:solidFill>
              <a:srgbClr val="1A56D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XGBoost (M1)</c:v>
                </c:pt>
                <c:pt idx="1">
                  <c:v>Decision Tree (M2)</c:v>
                </c:pt>
                <c:pt idx="2">
                  <c:v>Neural Net (M3)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19.95</c:v>
                </c:pt>
                <c:pt idx="1">
                  <c:v>38.78</c:v>
                </c:pt>
                <c:pt idx="2">
                  <c:v>22.22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6E-4FD4-AF51-D81AE30B392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MAE (meters)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XGBoost (M1)</c:v>
                </c:pt>
                <c:pt idx="1">
                  <c:v>Decision Tree (M2)</c:v>
                </c:pt>
                <c:pt idx="2">
                  <c:v>Neural Net (M3)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12.56</c:v>
                </c:pt>
                <c:pt idx="1">
                  <c:v>20.87</c:v>
                </c:pt>
                <c:pt idx="2">
                  <c:v>11.16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F6E-4FD4-AF51-D81AE30B39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7702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7AFE4-A095-AE22-E396-47646772F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2C0EED-199C-3305-B1F8-5F47E47FC6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D87334-E953-AB3B-197C-062AEA6E91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6D033-2891-C643-8140-6B25B28520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4154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D130F-004B-52C3-0E98-0F97E8BAD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B501A3-C9F5-5E2E-5122-BA60A135B9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1F5D7E-D3A4-BEAA-4419-AA93900526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5B8A9-39FC-B92D-E735-B5BC529B4F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2026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ED4C3-9FC0-C1DC-7726-FF817E8CA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B0A88F-56B9-F246-4D46-6E2719A33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1F0C83-5599-B965-D638-2056D75D41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B6D94-D324-6691-22A3-24827C963F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7078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62675-DDA5-C1ED-BE0E-F4BF42D91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2395BB-5E6C-19BC-C299-6AFA4C4B5E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67D90-1316-0FB3-5E68-C75388E67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BAA58-943C-DE6C-EAE1-BCF26F100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DB90C-8A5F-95F7-A7F6-BB9E9F189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084024"/>
      </p:ext>
    </p:extLst>
  </p:cSld>
  <p:clrMapOvr>
    <a:masterClrMapping/>
  </p:clrMapOvr>
  <p:transition spd="slow">
    <p:wipe/>
  </p:transition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4502B-9706-3526-0C7C-B5520A1AA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0A8F0-C3DA-F695-A4D9-E1F3AAB9F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DF96E-E716-A647-5D50-89F4A4CB3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B9D8E-AFE7-CA7B-95C5-C04AE112F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3766A-9E1C-D56C-BBAC-DC48AB8EE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690021"/>
      </p:ext>
    </p:extLst>
  </p:cSld>
  <p:clrMapOvr>
    <a:masterClrMapping/>
  </p:clrMapOvr>
  <p:transition spd="slow">
    <p:wipe/>
  </p:transition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38D01-6145-CD59-C724-0EA06835A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8C663-374A-8C0C-2FDE-EBEA052E9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8B515-A781-7D50-1746-C99A8995A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2EF99-7BE2-AF5F-6B8D-A4E9583EC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4DBAB-67DB-3C51-88D9-665891BE5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302406"/>
      </p:ext>
    </p:extLst>
  </p:cSld>
  <p:clrMapOvr>
    <a:masterClrMapping/>
  </p:clrMapOvr>
  <p:transition spd="slow">
    <p:wipe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E6235-5748-AE33-EE32-A08AF8E4F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C50D1-3E8F-64F7-D19A-EE4D87EEB0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16589B-93FA-CFDC-5FA2-78D4A809E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06CA4-886B-C154-6A39-2A15C9AB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5F06CE-452E-7AE1-4BEE-717B7F2A0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CA1F0-9280-DF97-7908-106DEC39B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427295"/>
      </p:ext>
    </p:extLst>
  </p:cSld>
  <p:clrMapOvr>
    <a:masterClrMapping/>
  </p:clrMapOvr>
  <p:transition spd="slow">
    <p:wipe/>
  </p:transition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774B7-49E0-F72C-DD7B-199ABEB22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58299-297E-154A-B2D2-9C84E3FE7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2BAB95-C7E3-45C0-DEE3-CC4EEDB79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CC98ED-70D8-F9D9-3C99-77A0939527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DD3EA5-4CCF-9FBC-7901-30E17C4EA6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CD5AE-7333-0274-D214-964875A48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0AEA58-4D40-8098-19A1-4BB4D0B4E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E2D44E-7BC0-9567-8F6C-188739896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793967"/>
      </p:ext>
    </p:extLst>
  </p:cSld>
  <p:clrMapOvr>
    <a:masterClrMapping/>
  </p:clrMapOvr>
  <p:transition spd="slow">
    <p:wipe/>
  </p:transition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5C4FF-B728-B8C5-394D-344A44D11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8E13BF-DF75-E355-35FF-D8BCA0C11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6742F4-DD94-AF8E-B33F-B900B9AAC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3EF8DE-D01D-EBDC-CADC-2F85EFD0B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790365"/>
      </p:ext>
    </p:extLst>
  </p:cSld>
  <p:clrMapOvr>
    <a:masterClrMapping/>
  </p:clrMapOvr>
  <p:transition spd="slow">
    <p:wipe/>
  </p:transition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85BCB9-DBE9-A4E1-40D3-74EEDF53B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6CEC2C-DC8E-8D81-7D78-E93B9B607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9F4A7-E214-324C-7570-0DA27BD44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920241"/>
      </p:ext>
    </p:extLst>
  </p:cSld>
  <p:clrMapOvr>
    <a:masterClrMapping/>
  </p:clrMapOvr>
  <p:transition spd="slow">
    <p:wipe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83248-ECB4-8E0D-0E9E-CFEC562DC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082D6-C6DB-1E93-3788-27D09220A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B4D203-851C-5632-34D5-6C8F8DF77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9143EE-EC8D-B8A7-19BC-6C28FCE64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3F4AC2-9BD6-728A-54AC-8012FA505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6FBE20-6FC0-0963-692C-84A4ADBD6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053039"/>
      </p:ext>
    </p:extLst>
  </p:cSld>
  <p:clrMapOvr>
    <a:masterClrMapping/>
  </p:clrMapOvr>
  <p:transition spd="slow">
    <p:wipe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3CDD2-4DAE-6E3F-9306-AD04F6EA9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0EBE58-F579-6301-386C-0E7F4A80C5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2D5318-B882-7A1A-1990-18D2ECEE7E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7F43DF-811F-5503-C6C7-06B10455F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39E4DE-0322-59C0-3128-EF181531B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42E35F-3E31-451E-0817-97239C02C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840726"/>
      </p:ext>
    </p:extLst>
  </p:cSld>
  <p:clrMapOvr>
    <a:masterClrMapping/>
  </p:clrMapOvr>
  <p:transition spd="slow">
    <p:wipe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05695-5590-F79F-FB80-0364879C5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D6CBAD-4792-A3E6-C192-7F202F9AE0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6BB22-5008-3034-82A3-4BDE52830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5FED3-7772-6075-A372-827896991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01C18-3CF4-3251-BFD6-D07E31A84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398480"/>
      </p:ext>
    </p:extLst>
  </p:cSld>
  <p:clrMapOvr>
    <a:masterClrMapping/>
  </p:clrMapOvr>
  <p:transition spd="slow">
    <p:wipe/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13CBB3-0DF7-6136-A8AE-8CB92FBCE4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533C4B-875D-B3D4-ABEF-0F4DFA471E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D64DE-D101-DF16-6F97-25CA45AFF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70D6B-01C6-104B-B059-AD17015BB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E68B4-393D-B7EA-4A49-E55904CDB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915425"/>
      </p:ext>
    </p:extLst>
  </p:cSld>
  <p:clrMapOvr>
    <a:masterClrMapping/>
  </p:clrMapOvr>
  <p:transition spd="slow">
    <p:wipe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7585425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2AEE58-A4D3-FA9A-507E-193F71D2B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9ADE3-5B49-2314-CE5B-326209108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AA2CB-017A-9B83-FAA9-5FA1D77DE1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4EE99-293D-DF00-F0FA-6D002B1765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88AE5-0A8D-17C2-C45B-8352F1E18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629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</p:sldLayoutIdLst>
  <p:transition spd="slow">
    <p:wipe/>
  </p:transition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274320" y="5486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0E9F6E"/>
                </a:solidFill>
              </a:rPr>
              <a:t>DSAI 3201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2600"/>
          </a:p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2600"/>
          </a:p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2600"/>
          </a:p>
        </p:txBody>
      </p:sp>
      <p:sp>
        <p:nvSpPr>
          <p:cNvPr id="7" name="Text 5"/>
          <p:cNvSpPr/>
          <p:nvPr/>
        </p:nvSpPr>
        <p:spPr>
          <a:xfrm>
            <a:off x="274320" y="2743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</a:rPr>
              <a:t>Winter 2026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320040" y="3200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</a:rPr>
              <a:t>Member 1: Nouresham|60103990</a:t>
            </a:r>
            <a:endParaRPr lang="en-US" sz="950"/>
          </a:p>
        </p:txBody>
      </p:sp>
      <p:sp>
        <p:nvSpPr>
          <p:cNvPr id="11" name="Text 9"/>
          <p:cNvSpPr/>
          <p:nvPr/>
        </p:nvSpPr>
        <p:spPr>
          <a:xfrm>
            <a:off x="320040" y="3703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</a:rPr>
              <a:t>Member 2: Arlene Riona | 60304739</a:t>
            </a:r>
            <a:endParaRPr lang="en-US" sz="950"/>
          </a:p>
        </p:txBody>
      </p:sp>
      <p:sp>
        <p:nvSpPr>
          <p:cNvPr id="13" name="Text 11"/>
          <p:cNvSpPr/>
          <p:nvPr/>
        </p:nvSpPr>
        <p:spPr>
          <a:xfrm>
            <a:off x="320040" y="4206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>
                <a:solidFill>
                  <a:srgbClr val="FFFFFF"/>
                </a:solidFill>
              </a:rPr>
              <a:t>Member 3: Zahra </a:t>
            </a:r>
            <a:r>
              <a:rPr lang="en-US" sz="950" err="1">
                <a:solidFill>
                  <a:srgbClr val="FFFFFF"/>
                </a:solidFill>
              </a:rPr>
              <a:t>Alwaili</a:t>
            </a:r>
            <a:r>
              <a:rPr lang="en-US" sz="950">
                <a:solidFill>
                  <a:srgbClr val="FFFFFF"/>
                </a:solidFill>
              </a:rPr>
              <a:t> | 60307052</a:t>
            </a:r>
            <a:endParaRPr lang="en-US" sz="950"/>
          </a:p>
        </p:txBody>
      </p:sp>
      <p:sp>
        <p:nvSpPr>
          <p:cNvPr id="14" name="Text 12"/>
          <p:cNvSpPr/>
          <p:nvPr/>
        </p:nvSpPr>
        <p:spPr>
          <a:xfrm>
            <a:off x="3474720" y="64008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Localization</a:t>
            </a:r>
            <a:endParaRPr lang="en-US" sz="3600"/>
          </a:p>
        </p:txBody>
      </p:sp>
      <p:sp>
        <p:nvSpPr>
          <p:cNvPr id="15" name="Text 13"/>
          <p:cNvSpPr/>
          <p:nvPr/>
        </p:nvSpPr>
        <p:spPr>
          <a:xfrm>
            <a:off x="3474720" y="132588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7F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WLAN Fingerprinting</a:t>
            </a:r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3474720" y="2011680"/>
            <a:ext cx="539496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i="1">
                <a:solidFill>
                  <a:schemeClr val="bg1"/>
                </a:solidFill>
              </a:rPr>
              <a:t>Predicting indoor position from </a:t>
            </a:r>
            <a:r>
              <a:rPr lang="en-US" sz="1200" i="1" err="1">
                <a:solidFill>
                  <a:schemeClr val="bg1"/>
                </a:solidFill>
              </a:rPr>
              <a:t>WiFi</a:t>
            </a:r>
            <a:r>
              <a:rPr lang="en-US" sz="1200" i="1">
                <a:solidFill>
                  <a:schemeClr val="bg1"/>
                </a:solidFill>
              </a:rPr>
              <a:t> signal patterns</a:t>
            </a:r>
            <a:endParaRPr lang="en-US" sz="12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 i="1">
                <a:solidFill>
                  <a:schemeClr val="bg1"/>
                </a:solidFill>
              </a:rPr>
              <a:t>using classification and regression models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474720" y="2880360"/>
            <a:ext cx="1234440" cy="1097280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0" y="2990088"/>
            <a:ext cx="1234440" cy="60350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19,937</a:t>
            </a:r>
            <a:endParaRPr lang="en-US" sz="2800"/>
          </a:p>
        </p:txBody>
      </p:sp>
      <p:sp>
        <p:nvSpPr>
          <p:cNvPr id="19" name="Text 17"/>
          <p:cNvSpPr/>
          <p:nvPr/>
        </p:nvSpPr>
        <p:spPr>
          <a:xfrm>
            <a:off x="3474720" y="3516782"/>
            <a:ext cx="1234440" cy="416966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CCDEFF"/>
                </a:solidFill>
              </a:rPr>
              <a:t>Training Samples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4846320" y="2880360"/>
            <a:ext cx="1234440" cy="1097280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2990088"/>
            <a:ext cx="1234440" cy="60350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</a:t>
            </a:r>
            <a:endParaRPr lang="en-US" sz="2800"/>
          </a:p>
        </p:txBody>
      </p:sp>
      <p:sp>
        <p:nvSpPr>
          <p:cNvPr id="22" name="Text 20"/>
          <p:cNvSpPr/>
          <p:nvPr/>
        </p:nvSpPr>
        <p:spPr>
          <a:xfrm>
            <a:off x="4846320" y="3516782"/>
            <a:ext cx="1234440" cy="416966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CCDEFF"/>
                </a:solidFill>
              </a:rPr>
              <a:t>WAP Features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6217920" y="2880360"/>
            <a:ext cx="1234440" cy="1097280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17920" y="2990088"/>
            <a:ext cx="1234440" cy="60350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/>
          </a:p>
        </p:txBody>
      </p:sp>
      <p:sp>
        <p:nvSpPr>
          <p:cNvPr id="25" name="Text 23"/>
          <p:cNvSpPr/>
          <p:nvPr/>
        </p:nvSpPr>
        <p:spPr>
          <a:xfrm>
            <a:off x="6217920" y="3516782"/>
            <a:ext cx="1234440" cy="416966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CCDEFF"/>
                </a:solidFill>
              </a:rPr>
              <a:t>Buildings</a:t>
            </a:r>
            <a:endParaRPr lang="en-US" sz="1100"/>
          </a:p>
        </p:txBody>
      </p:sp>
      <p:sp>
        <p:nvSpPr>
          <p:cNvPr id="26" name="Shape 24"/>
          <p:cNvSpPr/>
          <p:nvPr/>
        </p:nvSpPr>
        <p:spPr>
          <a:xfrm>
            <a:off x="7589520" y="2880360"/>
            <a:ext cx="1234440" cy="1097280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589520" y="2990088"/>
            <a:ext cx="1234440" cy="60350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/>
          </a:p>
        </p:txBody>
      </p:sp>
      <p:sp>
        <p:nvSpPr>
          <p:cNvPr id="28" name="Text 26"/>
          <p:cNvSpPr/>
          <p:nvPr/>
        </p:nvSpPr>
        <p:spPr>
          <a:xfrm>
            <a:off x="7589520" y="3516782"/>
            <a:ext cx="1234440" cy="416966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CCDEFF"/>
                </a:solidFill>
              </a:rPr>
              <a:t>Floor Levels</a:t>
            </a:r>
            <a:endParaRPr lang="en-US" sz="1100"/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1597133"/>
            <a:ext cx="164592" cy="19202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58725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kern="0" spc="600">
                <a:solidFill>
                  <a:schemeClr val="accent1">
                    <a:lumMod val="40000"/>
                    <a:lumOff val="60000"/>
                  </a:schemeClr>
                </a:solidFill>
              </a:rPr>
              <a:t>PART 1</a:t>
            </a:r>
            <a:endParaRPr lang="en-US" sz="140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58725" y="2060745"/>
            <a:ext cx="6989221" cy="997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4000"/>
          </a:p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Preprocessing</a:t>
            </a:r>
            <a:endParaRPr lang="en-US" sz="400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>
                <a:solidFill>
                  <a:schemeClr val="bg1"/>
                </a:solidFill>
              </a:rPr>
              <a:t>Presented by: Arlene Riona</a:t>
            </a:r>
          </a:p>
        </p:txBody>
      </p:sp>
      <p:pic>
        <p:nvPicPr>
          <p:cNvPr id="2" name="Graphic 1" descr="Statistics outline">
            <a:extLst>
              <a:ext uri="{FF2B5EF4-FFF2-40B4-BE49-F238E27FC236}">
                <a16:creationId xmlns:a16="http://schemas.microsoft.com/office/drawing/2014/main" id="{CF54F9EA-95CA-96A8-0F35-C227A14C6E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4020" y="1360170"/>
            <a:ext cx="2667000" cy="2667000"/>
          </a:xfrm>
          <a:prstGeom prst="rect">
            <a:avLst/>
          </a:prstGeom>
        </p:spPr>
      </p:pic>
      <p:pic>
        <p:nvPicPr>
          <p:cNvPr id="8" name="Graphic 7" descr="Research outline">
            <a:extLst>
              <a:ext uri="{FF2B5EF4-FFF2-40B4-BE49-F238E27FC236}">
                <a16:creationId xmlns:a16="http://schemas.microsoft.com/office/drawing/2014/main" id="{0299F94D-04D9-D64A-136F-1ECF5FCD18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4740" y="2602230"/>
            <a:ext cx="914400" cy="9144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6AC8AA-14EF-B249-F07B-627118414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323BCE4-07F0-30A0-87E1-7AF760F0CACD}"/>
              </a:ext>
            </a:extLst>
          </p:cNvPr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bg2">
                    <a:lumMod val="49000"/>
                  </a:schemeClr>
                </a:solidFill>
              </a:rPr>
              <a:t>PART 1  ›  PROJECT INTRODUCTION</a:t>
            </a:r>
            <a:endParaRPr lang="en-US" sz="1300">
              <a:solidFill>
                <a:schemeClr val="bg2">
                  <a:lumMod val="49000"/>
                </a:schemeClr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14ADC51-34B6-E9DB-C91B-0ED7B425DE89}"/>
              </a:ext>
            </a:extLst>
          </p:cNvPr>
          <p:cNvSpPr/>
          <p:nvPr/>
        </p:nvSpPr>
        <p:spPr>
          <a:xfrm>
            <a:off x="457200" y="647700"/>
            <a:ext cx="822960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Project Objective</a:t>
            </a:r>
            <a:endParaRPr lang="en-US" sz="32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88CE47F-ED61-D855-4916-3B8CEC07B09F}"/>
              </a:ext>
            </a:extLst>
          </p:cNvPr>
          <p:cNvSpPr/>
          <p:nvPr/>
        </p:nvSpPr>
        <p:spPr>
          <a:xfrm>
            <a:off x="365760" y="1493520"/>
            <a:ext cx="8100060" cy="265176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45B0E1"/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C57B169-BED4-9CBB-D8F4-86267278EDF9}"/>
              </a:ext>
            </a:extLst>
          </p:cNvPr>
          <p:cNvSpPr/>
          <p:nvPr/>
        </p:nvSpPr>
        <p:spPr>
          <a:xfrm>
            <a:off x="457200" y="1767840"/>
            <a:ext cx="7627620" cy="265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buSzPct val="100000"/>
            </a:pPr>
            <a:r>
              <a:rPr lang="en-US" sz="1600" dirty="0">
                <a:solidFill>
                  <a:schemeClr val="bg1"/>
                </a:solidFill>
                <a:ea typeface="+mn-lt"/>
                <a:cs typeface="+mn-lt"/>
              </a:rPr>
              <a:t>To build an indoor localization system that predicts a user's building, floor, and exact geographical coordinates (longitude &amp; latitude) using only </a:t>
            </a:r>
            <a:r>
              <a:rPr lang="en-US" sz="1600" dirty="0" err="1">
                <a:solidFill>
                  <a:schemeClr val="bg1"/>
                </a:solidFill>
                <a:ea typeface="+mn-lt"/>
                <a:cs typeface="+mn-lt"/>
              </a:rPr>
              <a:t>WiFi</a:t>
            </a:r>
            <a:r>
              <a:rPr lang="en-US" sz="1600" dirty="0">
                <a:solidFill>
                  <a:schemeClr val="bg1"/>
                </a:solidFill>
                <a:ea typeface="+mn-lt"/>
                <a:cs typeface="+mn-lt"/>
              </a:rPr>
              <a:t> fingerprint data (RSSI readings), since GPS is unreliable indoors.</a:t>
            </a:r>
            <a:endParaRPr lang="en-US" sz="16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>
              <a:buSzPct val="100000"/>
            </a:pPr>
            <a:endParaRPr lang="en-US" sz="1600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sz="16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This is decomposed into two tasks:</a:t>
            </a:r>
            <a:endParaRPr lang="en-US" sz="1600">
              <a:solidFill>
                <a:schemeClr val="bg1"/>
              </a:solidFill>
            </a:endParaRPr>
          </a:p>
          <a:p>
            <a:r>
              <a:rPr lang="en-US" sz="1600" b="1">
                <a:solidFill>
                  <a:schemeClr val="bg1"/>
                </a:solidFill>
                <a:ea typeface="+mn-lt"/>
                <a:cs typeface="+mn-lt"/>
              </a:rPr>
              <a:t>Classification:</a:t>
            </a:r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 predicting building ID and floor</a:t>
            </a:r>
            <a:endParaRPr lang="en-US" sz="1600">
              <a:solidFill>
                <a:schemeClr val="bg1"/>
              </a:solidFill>
            </a:endParaRPr>
          </a:p>
          <a:p>
            <a:r>
              <a:rPr lang="en-US" sz="1600" b="1">
                <a:solidFill>
                  <a:schemeClr val="bg1"/>
                </a:solidFill>
                <a:ea typeface="+mn-lt"/>
                <a:cs typeface="+mn-lt"/>
              </a:rPr>
              <a:t>Regression:</a:t>
            </a:r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 estimating exact longitude and latitude</a:t>
            </a:r>
            <a:endParaRPr lang="en-US" sz="160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1200" dirty="0">
              <a:solidFill>
                <a:srgbClr val="1E293B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" name="Graphic 5" descr="Cell Tower outline">
            <a:extLst>
              <a:ext uri="{FF2B5EF4-FFF2-40B4-BE49-F238E27FC236}">
                <a16:creationId xmlns:a16="http://schemas.microsoft.com/office/drawing/2014/main" id="{D9E1CB31-C9F7-1D47-FE89-DB455D2AF6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05500" y="2571750"/>
            <a:ext cx="1352550" cy="132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177257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accent5">
                    <a:lumMod val="50000"/>
                  </a:schemeClr>
                </a:solidFill>
              </a:rPr>
              <a:t>PART 1  ›  DATASET EXPLORATION</a:t>
            </a:r>
            <a:endParaRPr lang="en-US" sz="13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259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Key Insights of the</a:t>
            </a:r>
            <a:r>
              <a:rPr lang="en-US" sz="3200" b="1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Dataset</a:t>
            </a:r>
            <a:endParaRPr lang="en-US" sz="3200">
              <a:solidFill>
                <a:srgbClr val="000000"/>
              </a:solidFill>
              <a:latin typeface="Aptos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1920240" cy="105156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 w="12700">
            <a:solidFill>
              <a:srgbClr val="4472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435608"/>
            <a:ext cx="192024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19,937</a:t>
            </a:r>
            <a:endParaRPr lang="en-US" sz="2800"/>
          </a:p>
        </p:txBody>
      </p:sp>
      <p:sp>
        <p:nvSpPr>
          <p:cNvPr id="7" name="Text 5"/>
          <p:cNvSpPr/>
          <p:nvPr/>
        </p:nvSpPr>
        <p:spPr>
          <a:xfrm>
            <a:off x="274320" y="1935785"/>
            <a:ext cx="1920240" cy="39959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chemeClr val="bg1"/>
                </a:solidFill>
              </a:rPr>
              <a:t>Training Samples</a:t>
            </a:r>
          </a:p>
        </p:txBody>
      </p:sp>
      <p:sp>
        <p:nvSpPr>
          <p:cNvPr id="8" name="Shape 6"/>
          <p:cNvSpPr/>
          <p:nvPr/>
        </p:nvSpPr>
        <p:spPr>
          <a:xfrm>
            <a:off x="2450592" y="1325880"/>
            <a:ext cx="1920240" cy="105156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 w="12700">
            <a:solidFill>
              <a:srgbClr val="4472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50592" y="1435608"/>
            <a:ext cx="192024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1,111</a:t>
            </a:r>
            <a:endParaRPr lang="en-US" sz="2800"/>
          </a:p>
        </p:txBody>
      </p:sp>
      <p:sp>
        <p:nvSpPr>
          <p:cNvPr id="10" name="Text 8"/>
          <p:cNvSpPr/>
          <p:nvPr/>
        </p:nvSpPr>
        <p:spPr>
          <a:xfrm>
            <a:off x="2450592" y="1935785"/>
            <a:ext cx="1920240" cy="39959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chemeClr val="bg1"/>
                </a:solidFill>
              </a:rPr>
              <a:t>Validation Samples</a:t>
            </a:r>
          </a:p>
        </p:txBody>
      </p:sp>
      <p:sp>
        <p:nvSpPr>
          <p:cNvPr id="11" name="Shape 9"/>
          <p:cNvSpPr/>
          <p:nvPr/>
        </p:nvSpPr>
        <p:spPr>
          <a:xfrm>
            <a:off x="4626864" y="1325880"/>
            <a:ext cx="1920240" cy="105156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 w="12700">
            <a:solidFill>
              <a:srgbClr val="4472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26864" y="1435608"/>
            <a:ext cx="192024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</a:t>
            </a:r>
            <a:endParaRPr lang="en-US" sz="2800"/>
          </a:p>
        </p:txBody>
      </p:sp>
      <p:sp>
        <p:nvSpPr>
          <p:cNvPr id="13" name="Text 11"/>
          <p:cNvSpPr/>
          <p:nvPr/>
        </p:nvSpPr>
        <p:spPr>
          <a:xfrm>
            <a:off x="4626864" y="1935785"/>
            <a:ext cx="1920240" cy="39959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chemeClr val="bg1"/>
                </a:solidFill>
              </a:rPr>
              <a:t>WAP Features</a:t>
            </a:r>
          </a:p>
        </p:txBody>
      </p:sp>
      <p:sp>
        <p:nvSpPr>
          <p:cNvPr id="14" name="Shape 12"/>
          <p:cNvSpPr/>
          <p:nvPr/>
        </p:nvSpPr>
        <p:spPr>
          <a:xfrm>
            <a:off x="6803136" y="1325880"/>
            <a:ext cx="1920240" cy="105156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 w="12700">
            <a:solidFill>
              <a:srgbClr val="4472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03136" y="1435608"/>
            <a:ext cx="192024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96.5%</a:t>
            </a:r>
            <a:endParaRPr lang="en-US" sz="2800"/>
          </a:p>
        </p:txBody>
      </p:sp>
      <p:sp>
        <p:nvSpPr>
          <p:cNvPr id="16" name="Text 14"/>
          <p:cNvSpPr/>
          <p:nvPr/>
        </p:nvSpPr>
        <p:spPr>
          <a:xfrm>
            <a:off x="6803136" y="1935785"/>
            <a:ext cx="1920240" cy="39959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chemeClr val="bg1"/>
                </a:solidFill>
              </a:rPr>
              <a:t>Data Sparsity</a:t>
            </a:r>
          </a:p>
        </p:txBody>
      </p:sp>
      <p:sp>
        <p:nvSpPr>
          <p:cNvPr id="17" name="Shape 15"/>
          <p:cNvSpPr/>
          <p:nvPr/>
        </p:nvSpPr>
        <p:spPr>
          <a:xfrm>
            <a:off x="259080" y="2628900"/>
            <a:ext cx="3941064" cy="9587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43840" y="2560320"/>
            <a:ext cx="64008" cy="109728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8912" y="2633472"/>
            <a:ext cx="384048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50" b="1">
                <a:solidFill>
                  <a:schemeClr val="tx2">
                    <a:lumMod val="76000"/>
                    <a:lumOff val="24000"/>
                  </a:schemeClr>
                </a:solidFill>
              </a:rPr>
              <a:t>WAP001–WAP520</a:t>
            </a:r>
            <a:endParaRPr lang="en-US" sz="115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408432" y="2956560"/>
            <a:ext cx="375666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</a:rPr>
              <a:t>-104 dBm to 0 dBm. Value +100 = not detected (96.5% of readings)</a:t>
            </a:r>
            <a:endParaRPr lang="en-US" sz="1400"/>
          </a:p>
        </p:txBody>
      </p:sp>
      <p:sp>
        <p:nvSpPr>
          <p:cNvPr id="22" name="Shape 20"/>
          <p:cNvSpPr/>
          <p:nvPr/>
        </p:nvSpPr>
        <p:spPr>
          <a:xfrm>
            <a:off x="4617720" y="2628900"/>
            <a:ext cx="3840480" cy="9587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17720" y="2560320"/>
            <a:ext cx="64008" cy="109728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28972" y="2633472"/>
            <a:ext cx="384048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50" b="1">
                <a:solidFill>
                  <a:schemeClr val="tx2">
                    <a:lumMod val="76000"/>
                    <a:lumOff val="24000"/>
                  </a:schemeClr>
                </a:solidFill>
              </a:rPr>
              <a:t>BUILDINGID</a:t>
            </a:r>
            <a:endParaRPr lang="en-US" sz="115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4728972" y="2956560"/>
            <a:ext cx="384048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</a:rPr>
              <a:t>3 buildings (IDs 0, 1, 2)</a:t>
            </a:r>
          </a:p>
        </p:txBody>
      </p:sp>
      <p:sp>
        <p:nvSpPr>
          <p:cNvPr id="27" name="Shape 25"/>
          <p:cNvSpPr/>
          <p:nvPr/>
        </p:nvSpPr>
        <p:spPr>
          <a:xfrm>
            <a:off x="259080" y="3840480"/>
            <a:ext cx="3936492" cy="9587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3840480"/>
            <a:ext cx="64008" cy="109728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38912" y="3913632"/>
            <a:ext cx="384048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50" b="1">
                <a:solidFill>
                  <a:schemeClr val="tx2">
                    <a:lumMod val="76000"/>
                    <a:lumOff val="24000"/>
                  </a:schemeClr>
                </a:solidFill>
              </a:rPr>
              <a:t>FLOOR</a:t>
            </a:r>
            <a:endParaRPr lang="en-US" sz="115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408432" y="4236720"/>
            <a:ext cx="384048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>
                <a:solidFill>
                  <a:srgbClr val="1E293B"/>
                </a:solidFill>
              </a:rPr>
              <a:t>5 floors (0 to 4)</a:t>
            </a:r>
          </a:p>
        </p:txBody>
      </p:sp>
      <p:sp>
        <p:nvSpPr>
          <p:cNvPr id="32" name="Shape 30"/>
          <p:cNvSpPr/>
          <p:nvPr/>
        </p:nvSpPr>
        <p:spPr>
          <a:xfrm>
            <a:off x="4625340" y="3840480"/>
            <a:ext cx="3840480" cy="9587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25340" y="3771900"/>
            <a:ext cx="64008" cy="109728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82312" y="3913632"/>
            <a:ext cx="384048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50" b="1">
                <a:solidFill>
                  <a:schemeClr val="tx2">
                    <a:lumMod val="76000"/>
                    <a:lumOff val="24000"/>
                  </a:schemeClr>
                </a:solidFill>
              </a:rPr>
              <a:t>LONGITUDE &amp; LATITUDE</a:t>
            </a:r>
            <a:endParaRPr lang="en-US" sz="115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4759452" y="4236720"/>
            <a:ext cx="377952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</a:rPr>
              <a:t> Longitude: -7691 to -7301 m. Latitude: 4,864,746 to 4,865,017 m.</a:t>
            </a:r>
            <a:endParaRPr lang="en-US" sz="1400"/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accent5">
                    <a:lumMod val="50000"/>
                  </a:schemeClr>
                </a:solidFill>
              </a:rPr>
              <a:t>PART 1  ›  EXPLORATORY DATA ANALYSIS</a:t>
            </a:r>
            <a:endParaRPr lang="en-US" sz="13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24521" y="502052"/>
            <a:ext cx="342900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3 Key EDA Findings</a:t>
            </a:r>
            <a:endParaRPr lang="en-US" sz="3200">
              <a:latin typeface="Calibri"/>
              <a:ea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0086DB-1FA3-CF2E-9EAD-5CE6351F2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230" y="1286108"/>
            <a:ext cx="4219343" cy="33402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Text 24">
            <a:extLst>
              <a:ext uri="{FF2B5EF4-FFF2-40B4-BE49-F238E27FC236}">
                <a16:creationId xmlns:a16="http://schemas.microsoft.com/office/drawing/2014/main" id="{3D0B215B-D39B-96CB-EBE9-594F8371C717}"/>
              </a:ext>
            </a:extLst>
          </p:cNvPr>
          <p:cNvSpPr/>
          <p:nvPr/>
        </p:nvSpPr>
        <p:spPr>
          <a:xfrm>
            <a:off x="4946843" y="2566968"/>
            <a:ext cx="3835011" cy="532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2000">
                <a:solidFill>
                  <a:srgbClr val="1E293B"/>
                </a:solidFill>
                <a:ea typeface="+mn-lt"/>
                <a:cs typeface="+mn-lt"/>
              </a:rPr>
              <a:t>Extreme sparsity </a:t>
            </a:r>
            <a:endParaRPr lang="en-US" sz="2000">
              <a:solidFill>
                <a:srgbClr val="000000"/>
              </a:solidFill>
              <a:ea typeface="+mn-lt"/>
              <a:cs typeface="+mn-lt"/>
            </a:endParaRPr>
          </a:p>
          <a:p>
            <a:pPr algn="ctr"/>
            <a:r>
              <a:rPr lang="en-US" sz="2000">
                <a:solidFill>
                  <a:srgbClr val="1E293B"/>
                </a:solidFill>
                <a:ea typeface="+mn-lt"/>
                <a:cs typeface="+mn-lt"/>
              </a:rPr>
              <a:t>(18/520 active WAPs)</a:t>
            </a:r>
            <a:endParaRPr lang="en-US" sz="2000">
              <a:ea typeface="+mn-lt"/>
              <a:cs typeface="+mn-lt"/>
            </a:endParaRP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DE90BF-167C-BA16-3F3A-97E956397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3DD0E32E-2918-14F5-1069-81D5D87F10BC}"/>
              </a:ext>
            </a:extLst>
          </p:cNvPr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accent5">
                    <a:lumMod val="50000"/>
                  </a:schemeClr>
                </a:solidFill>
              </a:rPr>
              <a:t>PART 1  ›  EXPLORATORY DATA ANALYSIS</a:t>
            </a:r>
            <a:endParaRPr lang="en-US" sz="13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4A4D471-043B-531E-AC9D-96033674F3EE}"/>
              </a:ext>
            </a:extLst>
          </p:cNvPr>
          <p:cNvSpPr/>
          <p:nvPr/>
        </p:nvSpPr>
        <p:spPr>
          <a:xfrm>
            <a:off x="303871" y="502052"/>
            <a:ext cx="822960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3 Key EDA Findings</a:t>
            </a:r>
            <a:endParaRPr lang="en-US" sz="3200">
              <a:latin typeface="Calibri"/>
              <a:ea typeface="Calibri"/>
              <a:cs typeface="Calibri"/>
            </a:endParaRPr>
          </a:p>
        </p:txBody>
      </p:sp>
      <p:sp>
        <p:nvSpPr>
          <p:cNvPr id="21" name="Text 24">
            <a:extLst>
              <a:ext uri="{FF2B5EF4-FFF2-40B4-BE49-F238E27FC236}">
                <a16:creationId xmlns:a16="http://schemas.microsoft.com/office/drawing/2014/main" id="{DE19241C-C034-FE86-47C8-0D5F157AFEA3}"/>
              </a:ext>
            </a:extLst>
          </p:cNvPr>
          <p:cNvSpPr/>
          <p:nvPr/>
        </p:nvSpPr>
        <p:spPr>
          <a:xfrm>
            <a:off x="5262372" y="2638131"/>
            <a:ext cx="304673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2000">
                <a:solidFill>
                  <a:srgbClr val="1E293B"/>
                </a:solidFill>
                <a:ea typeface="+mn-lt"/>
                <a:cs typeface="+mn-lt"/>
              </a:rPr>
              <a:t>Dead data (55 WAPs never detected, 76 zero-reading samples)</a:t>
            </a:r>
            <a:endParaRPr lang="en-US" sz="2000">
              <a:ea typeface="+mn-lt"/>
              <a:cs typeface="+mn-lt"/>
            </a:endParaRPr>
          </a:p>
        </p:txBody>
      </p:sp>
      <p:pic>
        <p:nvPicPr>
          <p:cNvPr id="5" name="Picture 4" descr="A graph of a line&#10;&#10;AI-generated content may be incorrect.">
            <a:extLst>
              <a:ext uri="{FF2B5EF4-FFF2-40B4-BE49-F238E27FC236}">
                <a16:creationId xmlns:a16="http://schemas.microsoft.com/office/drawing/2014/main" id="{0986C5BE-A1B0-502B-70ED-21DC8CFE6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732" y="1435255"/>
            <a:ext cx="3839737" cy="291139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7673848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0BE24C-EDBE-2C02-F511-45601DF32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608EB1D-D9ED-B33C-89FD-E7F1127DC515}"/>
              </a:ext>
            </a:extLst>
          </p:cNvPr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accent5">
                    <a:lumMod val="50000"/>
                  </a:schemeClr>
                </a:solidFill>
              </a:rPr>
              <a:t>PART 1  ›  EXPLORATORY DATA ANALYSIS</a:t>
            </a:r>
            <a:endParaRPr lang="en-US" sz="13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E4F09E5-A3C2-C388-1349-4DF24A789208}"/>
              </a:ext>
            </a:extLst>
          </p:cNvPr>
          <p:cNvSpPr/>
          <p:nvPr/>
        </p:nvSpPr>
        <p:spPr>
          <a:xfrm>
            <a:off x="282962" y="503756"/>
            <a:ext cx="822960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3 Key EDA Findings</a:t>
            </a:r>
            <a:endParaRPr lang="en-US" sz="3200">
              <a:latin typeface="Calibri"/>
              <a:ea typeface="Calibri"/>
              <a:cs typeface="Calibri"/>
            </a:endParaRPr>
          </a:p>
        </p:txBody>
      </p:sp>
      <p:sp>
        <p:nvSpPr>
          <p:cNvPr id="21" name="Text 24">
            <a:extLst>
              <a:ext uri="{FF2B5EF4-FFF2-40B4-BE49-F238E27FC236}">
                <a16:creationId xmlns:a16="http://schemas.microsoft.com/office/drawing/2014/main" id="{2651F182-2778-ECB2-9A2A-4F98F72329CB}"/>
              </a:ext>
            </a:extLst>
          </p:cNvPr>
          <p:cNvSpPr/>
          <p:nvPr/>
        </p:nvSpPr>
        <p:spPr>
          <a:xfrm>
            <a:off x="6496905" y="2623264"/>
            <a:ext cx="2453703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2000">
                <a:solidFill>
                  <a:srgbClr val="1E293B"/>
                </a:solidFill>
                <a:ea typeface="+mn-lt"/>
                <a:cs typeface="+mn-lt"/>
              </a:rPr>
              <a:t>Class imbalance (Building 2 double, Floor 4 underrepresented)</a:t>
            </a:r>
            <a:endParaRPr lang="en-US" sz="2000">
              <a:ea typeface="+mn-lt"/>
              <a:cs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504676-ED3E-9B73-A275-167F1F6C5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414" y="1488994"/>
            <a:ext cx="5958934" cy="243035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47975838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accent5">
                    <a:lumMod val="50000"/>
                  </a:schemeClr>
                </a:solidFill>
              </a:rPr>
              <a:t>PART 1  ›  DATA CLEANING &amp; PREPROCESSING</a:t>
            </a:r>
            <a:endParaRPr lang="en-US" sz="13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Pipeline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274320" y="1353312"/>
            <a:ext cx="26974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353312"/>
            <a:ext cx="2514600" cy="4389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>
                <a:solidFill>
                  <a:schemeClr val="accent5">
                    <a:lumMod val="50000"/>
                  </a:schemeClr>
                </a:solidFill>
              </a:rPr>
              <a:t> Step 1: No Missing Values</a:t>
            </a:r>
          </a:p>
        </p:txBody>
      </p:sp>
      <p:sp>
        <p:nvSpPr>
          <p:cNvPr id="8" name="Text 6"/>
          <p:cNvSpPr/>
          <p:nvPr/>
        </p:nvSpPr>
        <p:spPr>
          <a:xfrm>
            <a:off x="384048" y="1856232"/>
            <a:ext cx="2514600" cy="960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200" dirty="0">
                <a:solidFill>
                  <a:srgbClr val="1E293B"/>
                </a:solidFill>
              </a:rPr>
              <a:t>Training set: 0 </a:t>
            </a:r>
            <a:r>
              <a:rPr lang="en-US" sz="1200" dirty="0" err="1">
                <a:solidFill>
                  <a:srgbClr val="1E293B"/>
                </a:solidFill>
              </a:rPr>
              <a:t>NaN</a:t>
            </a:r>
            <a:r>
              <a:rPr lang="en-US" sz="1200" dirty="0">
                <a:solidFill>
                  <a:srgbClr val="1E293B"/>
                </a:solidFill>
              </a:rPr>
              <a:t>. </a:t>
            </a:r>
            <a:endParaRPr lang="en-US" sz="1200">
              <a:solidFill>
                <a:srgbClr val="000000"/>
              </a:solidFill>
            </a:endParaRPr>
          </a:p>
          <a:p>
            <a:r>
              <a:rPr lang="en-US" sz="1200" dirty="0">
                <a:solidFill>
                  <a:srgbClr val="1E293B"/>
                </a:solidFill>
              </a:rPr>
              <a:t>Validation set: 0 </a:t>
            </a:r>
            <a:r>
              <a:rPr lang="en-US" sz="1200" dirty="0" err="1">
                <a:solidFill>
                  <a:srgbClr val="1E293B"/>
                </a:solidFill>
              </a:rPr>
              <a:t>NaN</a:t>
            </a:r>
            <a:r>
              <a:rPr lang="en-US" sz="1200" dirty="0">
                <a:solidFill>
                  <a:srgbClr val="1E293B"/>
                </a:solidFill>
              </a:rPr>
              <a:t>. </a:t>
            </a:r>
          </a:p>
        </p:txBody>
      </p:sp>
      <p:sp>
        <p:nvSpPr>
          <p:cNvPr id="9" name="Shape 7"/>
          <p:cNvSpPr/>
          <p:nvPr/>
        </p:nvSpPr>
        <p:spPr>
          <a:xfrm>
            <a:off x="3154680" y="1353312"/>
            <a:ext cx="26974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64408" y="1311495"/>
            <a:ext cx="2863075" cy="52254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sz="1400" b="1">
                <a:solidFill>
                  <a:schemeClr val="accent5">
                    <a:lumMod val="50000"/>
                  </a:schemeClr>
                </a:solidFill>
              </a:rPr>
              <a:t>Step 2: Sentinel Replacement</a:t>
            </a:r>
            <a:endParaRPr lang="en-US" sz="14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64408" y="1856232"/>
            <a:ext cx="2514600" cy="960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</a:rPr>
              <a:t>WAP value 100 means 'not </a:t>
            </a:r>
            <a:r>
              <a:rPr lang="en-US" sz="1200" dirty="0">
                <a:solidFill>
                  <a:srgbClr val="1E293B"/>
                </a:solidFill>
              </a:rPr>
              <a:t>detected'. Replaced with -105 dBm (below dataset minimum of -104 dBm) to preserve semantic gap.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353312"/>
            <a:ext cx="26974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44768" y="1353312"/>
            <a:ext cx="2514600" cy="4389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>
                <a:solidFill>
                  <a:schemeClr val="accent5">
                    <a:lumMod val="50000"/>
                  </a:schemeClr>
                </a:solidFill>
              </a:rPr>
              <a:t>  Step 3: Feature Scaling</a:t>
            </a:r>
            <a:endParaRPr lang="en-US" sz="14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144768" y="1856232"/>
            <a:ext cx="2514600" cy="960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200" dirty="0" err="1">
                <a:solidFill>
                  <a:srgbClr val="1E293B"/>
                </a:solidFill>
              </a:rPr>
              <a:t>StandardScaler</a:t>
            </a:r>
            <a:r>
              <a:rPr lang="en-US" sz="1200" dirty="0">
                <a:solidFill>
                  <a:srgbClr val="1E293B"/>
                </a:solidFill>
              </a:rPr>
              <a:t> fit on training data only, then applied to validation. Critical for SVM and neural network models that are distance-sensitive.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090672"/>
            <a:ext cx="26974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4048" y="3090672"/>
            <a:ext cx="2514600" cy="4389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>
                <a:solidFill>
                  <a:schemeClr val="accent5">
                    <a:lumMod val="50000"/>
                  </a:schemeClr>
                </a:solidFill>
              </a:rPr>
              <a:t> Step 4: Target Separation</a:t>
            </a:r>
            <a:endParaRPr lang="en-US" sz="14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384048" y="3593592"/>
            <a:ext cx="2514600" cy="960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</a:rPr>
              <a:t>Features split into 3 task-specific sets: Classification (FLOOR), Classification (BUILDINGID), and Regression (LONGITUDE, LATITUDE).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3154680" y="3090672"/>
            <a:ext cx="26974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64408" y="3090672"/>
            <a:ext cx="2521569" cy="50163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>
                <a:solidFill>
                  <a:schemeClr val="accent5">
                    <a:lumMod val="50000"/>
                  </a:schemeClr>
                </a:solidFill>
              </a:rPr>
              <a:t>  Step 5: Coord Scaling (Regression)</a:t>
            </a:r>
            <a:endParaRPr lang="en-US" sz="14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3264408" y="3593592"/>
            <a:ext cx="2514600" cy="960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Target coordinates additionally scaled with a separate </a:t>
            </a:r>
            <a:r>
              <a:rPr lang="en-US" sz="1200" dirty="0" err="1">
                <a:solidFill>
                  <a:srgbClr val="1E293B"/>
                </a:solidFill>
              </a:rPr>
              <a:t>StandardScaler</a:t>
            </a:r>
            <a:r>
              <a:rPr lang="en-US" sz="1200" dirty="0">
                <a:solidFill>
                  <a:srgbClr val="1E293B"/>
                </a:solidFill>
              </a:rPr>
              <a:t>. Inverse-transformed after prediction to restore meter units.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35040" y="3090672"/>
            <a:ext cx="26974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44768" y="3090672"/>
            <a:ext cx="2514600" cy="4389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>
                <a:solidFill>
                  <a:schemeClr val="accent5">
                    <a:lumMod val="50000"/>
                  </a:schemeClr>
                </a:solidFill>
              </a:rPr>
              <a:t>  Step 6: Dimensionality Note</a:t>
            </a:r>
            <a:endParaRPr lang="en-US" sz="14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6144768" y="3593592"/>
            <a:ext cx="2514600" cy="960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PCA was considered but not applied tree-based ensemble models (</a:t>
            </a:r>
            <a:r>
              <a:rPr lang="en-US" sz="1200" dirty="0" err="1">
                <a:solidFill>
                  <a:srgbClr val="1E293B"/>
                </a:solidFill>
              </a:rPr>
              <a:t>XGBoost</a:t>
            </a:r>
            <a:r>
              <a:rPr lang="en-US" sz="1200" dirty="0">
                <a:solidFill>
                  <a:srgbClr val="1E293B"/>
                </a:solidFill>
              </a:rPr>
              <a:t>, DT) handle sparse high-dim data natively without PCA.</a:t>
            </a:r>
            <a:endParaRPr lang="en-US" sz="1200" dirty="0"/>
          </a:p>
        </p:txBody>
      </p: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1645920"/>
            <a:ext cx="164592" cy="192024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>
                <a:solidFill>
                  <a:srgbClr val="0E9F6E"/>
                </a:solidFill>
              </a:rPr>
              <a:t>PART 2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457200" y="1922749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4000"/>
          </a:p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Optimization</a:t>
            </a:r>
            <a:endParaRPr lang="en-US" sz="4000"/>
          </a:p>
        </p:txBody>
      </p:sp>
      <p:sp>
        <p:nvSpPr>
          <p:cNvPr id="7" name="Text 5"/>
          <p:cNvSpPr/>
          <p:nvPr/>
        </p:nvSpPr>
        <p:spPr>
          <a:xfrm>
            <a:off x="457200" y="4075386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Presented by: Zahra </a:t>
            </a:r>
            <a:r>
              <a:rPr lang="en-US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Alwaili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2" name="Graphic 1" descr="Robot Hand outline">
            <a:extLst>
              <a:ext uri="{FF2B5EF4-FFF2-40B4-BE49-F238E27FC236}">
                <a16:creationId xmlns:a16="http://schemas.microsoft.com/office/drawing/2014/main" id="{60E15514-73AC-B4D7-D3D6-1ABD07E4EB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3878" y="1641584"/>
            <a:ext cx="1899744" cy="1860331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accent5">
                    <a:lumMod val="50000"/>
                  </a:schemeClr>
                </a:solidFill>
              </a:rPr>
              <a:t>PART 2  ›  MODEL DEVELOPMENT</a:t>
            </a:r>
            <a:endParaRPr lang="en-US" sz="13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Model Assignment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2560320" y="1371600"/>
            <a:ext cx="3200400" cy="457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0" y="1371600"/>
            <a:ext cx="32004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CLASSIFICATION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5806440" y="1371600"/>
            <a:ext cx="3108960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06440" y="1371600"/>
            <a:ext cx="310896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REGRESSION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219456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920240"/>
            <a:ext cx="219456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Member 1</a:t>
            </a:r>
            <a:endParaRPr lang="en-US" sz="1400"/>
          </a:p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</a:rPr>
              <a:t>Nouresham</a:t>
            </a:r>
            <a:endParaRPr lang="en-US" sz="1400" b="1">
              <a:solidFill>
                <a:srgbClr val="FFFFFF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2560320" y="1920240"/>
            <a:ext cx="3200400" cy="82296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60320" y="1920240"/>
            <a:ext cx="320040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1A56DB"/>
                </a:solidFill>
              </a:rPr>
              <a:t>Decision Tree</a:t>
            </a:r>
            <a:endParaRPr lang="en-US" sz="1400"/>
          </a:p>
          <a:p>
            <a:pPr marL="0" indent="0" algn="ctr">
              <a:buNone/>
            </a:pPr>
            <a:r>
              <a:rPr lang="en-US" sz="1400">
                <a:solidFill>
                  <a:srgbClr val="1A56DB"/>
                </a:solidFill>
              </a:rPr>
              <a:t>(Simple)</a:t>
            </a:r>
            <a:endParaRPr lang="en-US" sz="1400"/>
          </a:p>
        </p:txBody>
      </p:sp>
      <p:sp>
        <p:nvSpPr>
          <p:cNvPr id="13" name="Shape 11"/>
          <p:cNvSpPr/>
          <p:nvPr/>
        </p:nvSpPr>
        <p:spPr>
          <a:xfrm>
            <a:off x="5806440" y="1920240"/>
            <a:ext cx="3108960" cy="822960"/>
          </a:xfrm>
          <a:prstGeom prst="rect">
            <a:avLst/>
          </a:prstGeom>
          <a:solidFill>
            <a:srgbClr val="FECACA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06440" y="1920240"/>
            <a:ext cx="310896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E74C3C"/>
                </a:solidFill>
              </a:rPr>
              <a:t>XGBoost</a:t>
            </a:r>
            <a:endParaRPr lang="en-US" sz="1400"/>
          </a:p>
          <a:p>
            <a:pPr marL="0" indent="0" algn="ctr">
              <a:buNone/>
            </a:pPr>
            <a:r>
              <a:rPr lang="en-US" sz="1400">
                <a:solidFill>
                  <a:srgbClr val="E74C3C"/>
                </a:solidFill>
              </a:rPr>
              <a:t>(Advanced)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274320" y="2880360"/>
            <a:ext cx="219456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880360"/>
            <a:ext cx="219456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Member 2</a:t>
            </a:r>
            <a:endParaRPr lang="en-US" sz="1400"/>
          </a:p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Arlene</a:t>
            </a:r>
            <a:endParaRPr lang="en-US" sz="1400"/>
          </a:p>
        </p:txBody>
      </p:sp>
      <p:sp>
        <p:nvSpPr>
          <p:cNvPr id="17" name="Shape 15"/>
          <p:cNvSpPr/>
          <p:nvPr/>
        </p:nvSpPr>
        <p:spPr>
          <a:xfrm>
            <a:off x="2560320" y="2880360"/>
            <a:ext cx="3200400" cy="82296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60320" y="2880360"/>
            <a:ext cx="320040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1A56DB"/>
                </a:solidFill>
              </a:rPr>
              <a:t>Neural Network MLP</a:t>
            </a:r>
            <a:endParaRPr lang="en-US" sz="1400"/>
          </a:p>
          <a:p>
            <a:pPr marL="0" indent="0" algn="ctr">
              <a:buNone/>
            </a:pPr>
            <a:r>
              <a:rPr lang="en-US" sz="1400">
                <a:solidFill>
                  <a:srgbClr val="1A56DB"/>
                </a:solidFill>
              </a:rPr>
              <a:t>(Advanced)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5806440" y="2880360"/>
            <a:ext cx="3108960" cy="822960"/>
          </a:xfrm>
          <a:prstGeom prst="rect">
            <a:avLst/>
          </a:prstGeom>
          <a:solidFill>
            <a:srgbClr val="FECACA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06440" y="2880360"/>
            <a:ext cx="310896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E74C3C"/>
                </a:solidFill>
              </a:rPr>
              <a:t>Decision Tree</a:t>
            </a:r>
            <a:endParaRPr lang="en-US" sz="1400"/>
          </a:p>
          <a:p>
            <a:pPr marL="0" indent="0" algn="ctr">
              <a:buNone/>
            </a:pPr>
            <a:r>
              <a:rPr lang="en-US" sz="1400">
                <a:solidFill>
                  <a:srgbClr val="E74C3C"/>
                </a:solidFill>
              </a:rPr>
              <a:t>(Simple)</a:t>
            </a:r>
            <a:endParaRPr lang="en-US" sz="1400"/>
          </a:p>
        </p:txBody>
      </p:sp>
      <p:sp>
        <p:nvSpPr>
          <p:cNvPr id="21" name="Shape 19"/>
          <p:cNvSpPr/>
          <p:nvPr/>
        </p:nvSpPr>
        <p:spPr>
          <a:xfrm>
            <a:off x="274320" y="3840480"/>
            <a:ext cx="219456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3840480"/>
            <a:ext cx="219456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Member 3</a:t>
            </a:r>
            <a:endParaRPr lang="en-US" sz="1400"/>
          </a:p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Zahra</a:t>
            </a:r>
            <a:endParaRPr lang="en-US" sz="1400"/>
          </a:p>
        </p:txBody>
      </p:sp>
      <p:sp>
        <p:nvSpPr>
          <p:cNvPr id="23" name="Shape 21"/>
          <p:cNvSpPr/>
          <p:nvPr/>
        </p:nvSpPr>
        <p:spPr>
          <a:xfrm>
            <a:off x="2560320" y="3840480"/>
            <a:ext cx="3200400" cy="82296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560320" y="3840480"/>
            <a:ext cx="320040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1A56DB"/>
                </a:solidFill>
              </a:rPr>
              <a:t>Logistic Regression</a:t>
            </a:r>
            <a:endParaRPr lang="en-US" sz="1400"/>
          </a:p>
          <a:p>
            <a:pPr marL="0" indent="0" algn="ctr">
              <a:buNone/>
            </a:pPr>
            <a:r>
              <a:rPr lang="en-US" sz="1400">
                <a:solidFill>
                  <a:srgbClr val="1A56DB"/>
                </a:solidFill>
              </a:rPr>
              <a:t>(Simple)</a:t>
            </a:r>
            <a:endParaRPr lang="en-US" sz="1400"/>
          </a:p>
        </p:txBody>
      </p:sp>
      <p:sp>
        <p:nvSpPr>
          <p:cNvPr id="25" name="Shape 23"/>
          <p:cNvSpPr/>
          <p:nvPr/>
        </p:nvSpPr>
        <p:spPr>
          <a:xfrm>
            <a:off x="5806440" y="3840480"/>
            <a:ext cx="3108960" cy="822960"/>
          </a:xfrm>
          <a:prstGeom prst="rect">
            <a:avLst/>
          </a:prstGeom>
          <a:solidFill>
            <a:srgbClr val="FECACA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806440" y="3840480"/>
            <a:ext cx="310896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E74C3C"/>
                </a:solidFill>
              </a:rPr>
              <a:t>Neural Network MLP</a:t>
            </a:r>
            <a:endParaRPr lang="en-US" sz="1400"/>
          </a:p>
          <a:p>
            <a:pPr marL="0" indent="0" algn="ctr">
              <a:buNone/>
            </a:pPr>
            <a:r>
              <a:rPr lang="en-US" sz="1400">
                <a:solidFill>
                  <a:srgbClr val="E74C3C"/>
                </a:solidFill>
              </a:rPr>
              <a:t>(Advanced)</a:t>
            </a:r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274320" y="4617720"/>
            <a:ext cx="864108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0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accent5">
                    <a:lumMod val="50000"/>
                  </a:schemeClr>
                </a:solidFill>
              </a:rPr>
              <a:t>PART 2  ›  CLASSIFICATION MODELS</a:t>
            </a:r>
            <a:endParaRPr lang="en-US" sz="13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&amp; Floor Classification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256032" y="1325880"/>
            <a:ext cx="272491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3258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chemeClr val="accent5">
                    <a:lumMod val="50000"/>
                  </a:schemeClr>
                </a:solidFill>
              </a:rPr>
              <a:t>SIMPLE  ·  Member 1</a:t>
            </a:r>
            <a:endParaRPr lang="en-US" sz="11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47472" y="1901952"/>
            <a:ext cx="256032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56DB"/>
                </a:solidFill>
              </a:rPr>
              <a:t>Decision Tree Classifier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347472" y="2267712"/>
            <a:ext cx="256032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i="1">
                <a:solidFill>
                  <a:schemeClr val="bg2">
                    <a:lumMod val="49000"/>
                  </a:schemeClr>
                </a:solidFill>
              </a:rPr>
              <a:t>Task: Floor Prediction (0–4)</a:t>
            </a:r>
            <a:endParaRPr lang="en-US" sz="1000">
              <a:solidFill>
                <a:schemeClr val="bg2">
                  <a:lumMod val="49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47472" y="25786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E293B"/>
                </a:solidFill>
              </a:rPr>
              <a:t>Parameters: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420624" y="281635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• max_depth = 25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420624" y="305409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• min_samples_leaf = 2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420624" y="329184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• class_weight = 'balanced'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347472" y="3538728"/>
            <a:ext cx="256032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50" i="1">
                <a:solidFill>
                  <a:schemeClr val="bg2">
                    <a:lumMod val="49000"/>
                  </a:schemeClr>
                </a:solidFill>
              </a:rPr>
              <a:t>Why chosen: Handles high-dim sparse data; interpretable; fast training. </a:t>
            </a:r>
            <a:r>
              <a:rPr lang="en-US" sz="950" i="1" err="1">
                <a:solidFill>
                  <a:schemeClr val="bg2">
                    <a:lumMod val="49000"/>
                  </a:schemeClr>
                </a:solidFill>
              </a:rPr>
              <a:t>class_weight</a:t>
            </a:r>
            <a:r>
              <a:rPr lang="en-US" sz="950" i="1">
                <a:solidFill>
                  <a:schemeClr val="bg2">
                    <a:lumMod val="49000"/>
                  </a:schemeClr>
                </a:solidFill>
              </a:rPr>
              <a:t>='balanced' corrects for Floor 1 dominance.</a:t>
            </a:r>
            <a:endParaRPr lang="en-US" sz="950">
              <a:solidFill>
                <a:schemeClr val="bg2">
                  <a:lumMod val="49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47472" y="4297680"/>
            <a:ext cx="2560320" cy="502920"/>
          </a:xfrm>
          <a:prstGeom prst="rect">
            <a:avLst/>
          </a:prstGeom>
          <a:solidFill>
            <a:srgbClr val="1A56DB">
              <a:alpha val="15000"/>
            </a:srgbClr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7472" y="4297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A56DB"/>
                </a:solidFill>
              </a:rPr>
              <a:t>Accuracy: 72.3%</a:t>
            </a:r>
            <a:endParaRPr lang="en-US" sz="1050"/>
          </a:p>
          <a:p>
            <a:pPr marL="0" indent="0" algn="ctr">
              <a:buNone/>
            </a:pPr>
            <a:r>
              <a:rPr lang="en-US" sz="1050" b="1">
                <a:solidFill>
                  <a:srgbClr val="1A56DB"/>
                </a:solidFill>
              </a:rPr>
              <a:t>F1 (weighted): 0.73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3163824" y="1325880"/>
            <a:ext cx="272491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55264" y="13258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chemeClr val="accent5">
                    <a:lumMod val="50000"/>
                  </a:schemeClr>
                </a:solidFill>
              </a:rPr>
              <a:t>ADVANCED  ·  Member 2</a:t>
            </a:r>
            <a:endParaRPr lang="en-US" sz="11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3255264" y="1901952"/>
            <a:ext cx="256032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E9F6E"/>
                </a:solidFill>
              </a:rPr>
              <a:t>Neural Network (MLP Classifier)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3255264" y="2267712"/>
            <a:ext cx="256032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i="1">
                <a:solidFill>
                  <a:schemeClr val="bg2">
                    <a:lumMod val="49000"/>
                  </a:schemeClr>
                </a:solidFill>
              </a:rPr>
              <a:t>Task: Floor Prediction (0–4)</a:t>
            </a:r>
            <a:endParaRPr lang="en-US" sz="1000">
              <a:solidFill>
                <a:schemeClr val="bg2">
                  <a:lumMod val="49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3255264" y="25786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E293B"/>
                </a:solidFill>
              </a:rPr>
              <a:t>Parameters: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3328416" y="281635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• Layers: 128 → 64 → 32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3328416" y="305409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• Activation: ReLU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3328416" y="329184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• Solver: Adam, max_iter=400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3255264" y="3538728"/>
            <a:ext cx="256032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50" i="1">
                <a:solidFill>
                  <a:schemeClr val="bg2">
                    <a:lumMod val="49000"/>
                  </a:schemeClr>
                </a:solidFill>
              </a:rPr>
              <a:t>Why chosen: Deep architecture captures non-linear RSSI-floor relationships across 5 floors more accurately than shallow models.</a:t>
            </a:r>
            <a:endParaRPr lang="en-US" sz="950">
              <a:solidFill>
                <a:schemeClr val="bg2">
                  <a:lumMod val="49000"/>
                </a:schemeClr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255264" y="4297680"/>
            <a:ext cx="2560320" cy="502920"/>
          </a:xfrm>
          <a:prstGeom prst="rect">
            <a:avLst/>
          </a:prstGeom>
          <a:solidFill>
            <a:srgbClr val="0E9F6E">
              <a:alpha val="15000"/>
            </a:srgbClr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55264" y="4297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E9F6E"/>
                </a:solidFill>
              </a:rPr>
              <a:t>Accuracy: 87.8%</a:t>
            </a:r>
            <a:endParaRPr lang="en-US" sz="1050"/>
          </a:p>
          <a:p>
            <a:pPr marL="0" indent="0" algn="ctr">
              <a:buNone/>
            </a:pPr>
            <a:r>
              <a:rPr lang="en-US" sz="1050" b="1">
                <a:solidFill>
                  <a:srgbClr val="0E9F6E"/>
                </a:solidFill>
              </a:rPr>
              <a:t>F1 (weighted): 0.88</a:t>
            </a:r>
            <a:endParaRPr lang="en-US" sz="1050"/>
          </a:p>
        </p:txBody>
      </p:sp>
      <p:sp>
        <p:nvSpPr>
          <p:cNvPr id="29" name="Shape 27"/>
          <p:cNvSpPr/>
          <p:nvPr/>
        </p:nvSpPr>
        <p:spPr>
          <a:xfrm>
            <a:off x="6071616" y="1325880"/>
            <a:ext cx="272491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163056" y="13258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chemeClr val="accent5">
                    <a:lumMod val="50000"/>
                  </a:schemeClr>
                </a:solidFill>
              </a:rPr>
              <a:t>SIMPLE  ·  Member 3</a:t>
            </a:r>
            <a:endParaRPr lang="en-US" sz="11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6163056" y="1901952"/>
            <a:ext cx="256032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7C3AED"/>
                </a:solidFill>
              </a:rPr>
              <a:t>Logistic Regression</a:t>
            </a:r>
            <a:endParaRPr lang="en-US" sz="1200">
              <a:solidFill>
                <a:srgbClr val="7C3AED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6163056" y="2267712"/>
            <a:ext cx="256032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i="1">
                <a:solidFill>
                  <a:schemeClr val="bg2">
                    <a:lumMod val="49000"/>
                  </a:schemeClr>
                </a:solidFill>
              </a:rPr>
              <a:t>Task: Building Prediction (0–2)</a:t>
            </a:r>
            <a:endParaRPr lang="en-US" sz="1000">
              <a:solidFill>
                <a:schemeClr val="bg2">
                  <a:lumMod val="49000"/>
                </a:schemeClr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6163056" y="25786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E293B"/>
                </a:solidFill>
              </a:rPr>
              <a:t>Parameters:</a:t>
            </a:r>
            <a:endParaRPr lang="en-US" sz="1000"/>
          </a:p>
        </p:txBody>
      </p:sp>
      <p:sp>
        <p:nvSpPr>
          <p:cNvPr id="35" name="Text 33"/>
          <p:cNvSpPr/>
          <p:nvPr/>
        </p:nvSpPr>
        <p:spPr>
          <a:xfrm>
            <a:off x="6236208" y="281635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• Solver: lbfgs</a:t>
            </a:r>
            <a:endParaRPr lang="en-US" sz="1000"/>
          </a:p>
        </p:txBody>
      </p:sp>
      <p:sp>
        <p:nvSpPr>
          <p:cNvPr id="36" name="Text 34"/>
          <p:cNvSpPr/>
          <p:nvPr/>
        </p:nvSpPr>
        <p:spPr>
          <a:xfrm>
            <a:off x="6236208" y="305409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• Multi-class: auto</a:t>
            </a:r>
            <a:endParaRPr lang="en-US" sz="1000"/>
          </a:p>
        </p:txBody>
      </p:sp>
      <p:sp>
        <p:nvSpPr>
          <p:cNvPr id="37" name="Text 35"/>
          <p:cNvSpPr/>
          <p:nvPr/>
        </p:nvSpPr>
        <p:spPr>
          <a:xfrm>
            <a:off x="6236208" y="329184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• max_iter: 1000</a:t>
            </a:r>
            <a:endParaRPr lang="en-US" sz="1000"/>
          </a:p>
        </p:txBody>
      </p:sp>
      <p:sp>
        <p:nvSpPr>
          <p:cNvPr id="38" name="Text 36"/>
          <p:cNvSpPr/>
          <p:nvPr/>
        </p:nvSpPr>
        <p:spPr>
          <a:xfrm>
            <a:off x="6163056" y="3538728"/>
            <a:ext cx="256032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50" i="1">
                <a:solidFill>
                  <a:schemeClr val="bg2">
                    <a:lumMod val="49000"/>
                  </a:schemeClr>
                </a:solidFill>
              </a:rPr>
              <a:t>Why chosen: Buildings are linearly separable in coordinate/RSSI space. Logistic regression is ideal for well-separated classes.</a:t>
            </a:r>
            <a:endParaRPr lang="en-US" sz="950">
              <a:solidFill>
                <a:schemeClr val="bg2">
                  <a:lumMod val="49000"/>
                </a:schemeClr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163056" y="4297680"/>
            <a:ext cx="2560320" cy="50292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163056" y="4297680"/>
            <a:ext cx="256032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7C3AED"/>
                </a:solidFill>
              </a:rPr>
              <a:t>Accuracy: 100%</a:t>
            </a:r>
            <a:endParaRPr lang="en-US" sz="1050">
              <a:solidFill>
                <a:srgbClr val="7C3AED"/>
              </a:solidFill>
            </a:endParaRPr>
          </a:p>
          <a:p>
            <a:pPr marL="0" indent="0" algn="ctr">
              <a:buNone/>
            </a:pPr>
            <a:r>
              <a:rPr lang="en-US" sz="1050" b="1">
                <a:solidFill>
                  <a:srgbClr val="7C3AED"/>
                </a:solidFill>
              </a:rPr>
              <a:t>F1 (weighted): 1.00</a:t>
            </a:r>
            <a:endParaRPr lang="en-US" sz="1050">
              <a:solidFill>
                <a:srgbClr val="7C3AED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accent5">
                    <a:lumMod val="50000"/>
                  </a:schemeClr>
                </a:solidFill>
              </a:rPr>
              <a:t>PART 2  ›  REGRESSION MODELS</a:t>
            </a:r>
            <a:endParaRPr lang="en-US" sz="13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6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Coordinate Prediction: Longitude &amp; Latitude</a:t>
            </a:r>
            <a:endParaRPr lang="en-US" sz="26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56032" y="1325880"/>
            <a:ext cx="272491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3258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chemeClr val="accent5">
                    <a:lumMod val="50000"/>
                  </a:schemeClr>
                </a:solidFill>
              </a:rPr>
              <a:t>ADVANCED  ·  Member 1</a:t>
            </a:r>
            <a:endParaRPr lang="en-US" sz="16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47472" y="19019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56DB"/>
                </a:solidFill>
              </a:rPr>
              <a:t>XGBoost Regressor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347472" y="2331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E293B"/>
                </a:solidFill>
              </a:rPr>
              <a:t>Parameters: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420624" y="256032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• n_estimators = 200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420624" y="279806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• max_depth = 6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420624" y="303580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• learning_rate = 0.1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420624" y="327355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• subsample = 0.8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420624" y="351129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• MultiOutputRegressor wrapper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340502" y="3635855"/>
            <a:ext cx="256032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50" i="1">
                <a:solidFill>
                  <a:schemeClr val="bg2">
                    <a:lumMod val="49000"/>
                  </a:schemeClr>
                </a:solidFill>
              </a:rPr>
              <a:t>Gradient boosting iteratively corrects errors. Natively handles 520 sparse WAP features. Best balance of accuracy and speed.</a:t>
            </a:r>
            <a:endParaRPr lang="en-US" sz="950">
              <a:solidFill>
                <a:schemeClr val="bg2">
                  <a:lumMod val="49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47472" y="4279392"/>
            <a:ext cx="2560320" cy="594360"/>
          </a:xfrm>
          <a:prstGeom prst="rect">
            <a:avLst/>
          </a:prstGeom>
          <a:solidFill>
            <a:srgbClr val="1A56DB">
              <a:alpha val="15000"/>
            </a:srgbClr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7472" y="427939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A56DB"/>
                </a:solidFill>
              </a:rPr>
              <a:t>RMSE: 19.95 m  |  MAE: 12.56 m  |  R²: 0.9541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3163824" y="1325880"/>
            <a:ext cx="272491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55264" y="13258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chemeClr val="accent5">
                    <a:lumMod val="50000"/>
                  </a:schemeClr>
                </a:solidFill>
              </a:rPr>
              <a:t>SIMPLE  ·  Member 2</a:t>
            </a:r>
            <a:endParaRPr lang="en-US" sz="16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3255264" y="19019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E9F6E"/>
                </a:solidFill>
              </a:rPr>
              <a:t>Decision Tree Regressor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3255264" y="2331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E293B"/>
                </a:solidFill>
              </a:rPr>
              <a:t>Parameters: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3328416" y="256032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• Standard DecisionTreeRegressor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3328416" y="279806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• max_depth = default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3328416" y="303580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• MultiOutputRegressor wrapper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3255264" y="3566160"/>
            <a:ext cx="256032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50" i="1">
                <a:solidFill>
                  <a:schemeClr val="bg2">
                    <a:lumMod val="49000"/>
                  </a:schemeClr>
                </a:solidFill>
              </a:rPr>
              <a:t>Interpretable baseline. Demonstrates that even a simple non-linear model can achieve reasonable coordinate prediction.</a:t>
            </a:r>
            <a:endParaRPr lang="en-US" sz="950">
              <a:solidFill>
                <a:schemeClr val="bg2">
                  <a:lumMod val="49000"/>
                </a:schemeClr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255264" y="4279392"/>
            <a:ext cx="2560320" cy="594360"/>
          </a:xfrm>
          <a:prstGeom prst="rect">
            <a:avLst/>
          </a:prstGeom>
          <a:solidFill>
            <a:srgbClr val="0E9F6E">
              <a:alpha val="15000"/>
            </a:srgbClr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55264" y="427939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E9F6E"/>
                </a:solidFill>
              </a:rPr>
              <a:t>RMSE: 38.78 m  |  MAE: 20.87 m  |  R²: 0.8388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6071616" y="1325880"/>
            <a:ext cx="272491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163056" y="13258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chemeClr val="accent5">
                    <a:lumMod val="50000"/>
                  </a:schemeClr>
                </a:solidFill>
              </a:rPr>
              <a:t>ADVANCED  ·  Member 3</a:t>
            </a:r>
            <a:endParaRPr lang="en-US" sz="14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6163056" y="19019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7C3AED"/>
                </a:solidFill>
              </a:rPr>
              <a:t>Neural Network (MLP Regressor)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6163056" y="2331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E293B"/>
                </a:solidFill>
              </a:rPr>
              <a:t>Parameters:</a:t>
            </a:r>
            <a:endParaRPr lang="en-US" sz="1000"/>
          </a:p>
        </p:txBody>
      </p:sp>
      <p:sp>
        <p:nvSpPr>
          <p:cNvPr id="34" name="Text 32"/>
          <p:cNvSpPr/>
          <p:nvPr/>
        </p:nvSpPr>
        <p:spPr>
          <a:xfrm>
            <a:off x="6236208" y="256032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• Layers: 128 → 64 → 32</a:t>
            </a:r>
            <a:endParaRPr lang="en-US" sz="1000"/>
          </a:p>
        </p:txBody>
      </p:sp>
      <p:sp>
        <p:nvSpPr>
          <p:cNvPr id="35" name="Text 33"/>
          <p:cNvSpPr/>
          <p:nvPr/>
        </p:nvSpPr>
        <p:spPr>
          <a:xfrm>
            <a:off x="6236208" y="279806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• Activation: ReLU</a:t>
            </a:r>
            <a:endParaRPr lang="en-US" sz="1000"/>
          </a:p>
        </p:txBody>
      </p:sp>
      <p:sp>
        <p:nvSpPr>
          <p:cNvPr id="36" name="Text 34"/>
          <p:cNvSpPr/>
          <p:nvPr/>
        </p:nvSpPr>
        <p:spPr>
          <a:xfrm>
            <a:off x="6236208" y="303580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• Early stopping, val_frac=0.1</a:t>
            </a:r>
            <a:endParaRPr lang="en-US" sz="1000"/>
          </a:p>
        </p:txBody>
      </p:sp>
      <p:sp>
        <p:nvSpPr>
          <p:cNvPr id="37" name="Text 35"/>
          <p:cNvSpPr/>
          <p:nvPr/>
        </p:nvSpPr>
        <p:spPr>
          <a:xfrm>
            <a:off x="6236208" y="327355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• Target scaling + inverse transform</a:t>
            </a:r>
            <a:endParaRPr lang="en-US" sz="1000"/>
          </a:p>
        </p:txBody>
      </p:sp>
      <p:sp>
        <p:nvSpPr>
          <p:cNvPr id="38" name="Text 36"/>
          <p:cNvSpPr/>
          <p:nvPr/>
        </p:nvSpPr>
        <p:spPr>
          <a:xfrm>
            <a:off x="6163056" y="3566160"/>
            <a:ext cx="256032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50" i="1">
                <a:solidFill>
                  <a:schemeClr val="bg2">
                    <a:lumMod val="49000"/>
                  </a:schemeClr>
                </a:solidFill>
              </a:rPr>
              <a:t>Deep learning captures complex non-linear RSSI-coordinate relationships across all 3 buildings simultaneously.</a:t>
            </a:r>
            <a:endParaRPr lang="en-US" sz="950">
              <a:solidFill>
                <a:schemeClr val="bg2">
                  <a:lumMod val="49000"/>
                </a:schemeClr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163056" y="4279392"/>
            <a:ext cx="2560320" cy="59436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163056" y="427939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7C3AED"/>
                </a:solidFill>
              </a:rPr>
              <a:t>RMSE: 22.22 m  |  MAE: 11.16 m  |  R²: 0.9475</a:t>
            </a:r>
            <a:endParaRPr lang="en-US" sz="1000"/>
          </a:p>
        </p:txBody>
      </p:sp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accent5">
                    <a:lumMod val="50000"/>
                  </a:schemeClr>
                </a:solidFill>
              </a:rPr>
              <a:t>PART 2  ›  OPTIMIZATION &amp; EVALUATION METRICS</a:t>
            </a:r>
            <a:endParaRPr lang="en-US" sz="13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&amp; Evaluation Framework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114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accent5">
                    <a:lumMod val="50000"/>
                  </a:schemeClr>
                </a:solidFill>
              </a:rPr>
              <a:t> Evaluation Metrics</a:t>
            </a:r>
            <a:endParaRPr lang="en-US" sz="13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56DB"/>
                </a:solidFill>
              </a:rPr>
              <a:t>Classification: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457200" y="21762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• Accuracy: % of correctly classified samples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37490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50">
                <a:solidFill>
                  <a:srgbClr val="1E293B"/>
                </a:solidFill>
              </a:rPr>
              <a:t>• Precision: TP / (TP + FP): how precise predictions are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457200" y="2852928"/>
            <a:ext cx="37490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50">
                <a:solidFill>
                  <a:srgbClr val="1E293B"/>
                </a:solidFill>
              </a:rPr>
              <a:t>• Recall: TP / (TP + FN): how many positives caught</a:t>
            </a:r>
            <a:endParaRPr lang="en-US" sz="1050"/>
          </a:p>
        </p:txBody>
      </p:sp>
      <p:sp>
        <p:nvSpPr>
          <p:cNvPr id="12" name="Text 10"/>
          <p:cNvSpPr/>
          <p:nvPr/>
        </p:nvSpPr>
        <p:spPr>
          <a:xfrm>
            <a:off x="457200" y="319125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• F1-Score: Harmonic mean of Precision and Recall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411480" y="35935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74C3C"/>
                </a:solidFill>
              </a:rPr>
              <a:t>Regression: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457200" y="3904488"/>
            <a:ext cx="37490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50" dirty="0">
                <a:solidFill>
                  <a:srgbClr val="1E293B"/>
                </a:solidFill>
              </a:rPr>
              <a:t>• RMSE: Root Mean Squared Error: penalizes large errors (in meters)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242816"/>
            <a:ext cx="37490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50">
                <a:solidFill>
                  <a:srgbClr val="1E293B"/>
                </a:solidFill>
              </a:rPr>
              <a:t>• MAE: Mean Absolute Error: average distance error (in </a:t>
            </a:r>
            <a:r>
              <a:rPr lang="en-US" sz="1050" dirty="0">
                <a:solidFill>
                  <a:srgbClr val="1E293B"/>
                </a:solidFill>
              </a:rPr>
              <a:t>meters)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58114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• R²: Coefficient of determination: 1.0 = perfect prediction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4663440" y="1325880"/>
            <a:ext cx="42062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13258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accent5">
                    <a:lumMod val="50000"/>
                  </a:schemeClr>
                </a:solidFill>
              </a:rPr>
              <a:t>  Optimization Strategies</a:t>
            </a:r>
            <a:endParaRPr lang="en-US" sz="13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54880" y="190195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E9F6E"/>
                </a:solidFill>
              </a:rPr>
              <a:t>Decision Tree Tuning</a:t>
            </a:r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4754880" y="21671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max_depth: 8 → 25; added class_weight='balanced'; accuracy: 56.9% → 72.3%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4754880" y="254203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E9F6E"/>
                </a:solidFill>
              </a:rPr>
              <a:t>Cross-Validation</a:t>
            </a:r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4754880" y="280720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3-Fold and 10-Fold CV used to detect overfitting and validate generalization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4754880" y="318211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E9F6E"/>
                </a:solidFill>
              </a:rPr>
              <a:t>Early Stopping (MLP)</a:t>
            </a:r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4754880" y="344728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Neural networks use validation_fraction=0.1 to stop before overfitting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4754880" y="382219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E9F6E"/>
                </a:solidFill>
              </a:rPr>
              <a:t>XGBoost Hyperparams</a:t>
            </a:r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4754880" y="408736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n_estimators=200, lr=0.1, subsample=0.8 tuned for sparse WiFi data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4754880" y="437863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E9F6E"/>
                </a:solidFill>
              </a:rPr>
              <a:t>StandardScaler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4754880" y="4595027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Fit only on training data; prevents data leakage into validation metrics</a:t>
            </a:r>
            <a:endParaRPr lang="en-US" sz="1000"/>
          </a:p>
        </p:txBody>
      </p:sp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1645920"/>
            <a:ext cx="164592" cy="1920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>
                <a:solidFill>
                  <a:srgbClr val="7C3AED"/>
                </a:solidFill>
              </a:rPr>
              <a:t>PART 3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457200" y="1887379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Applications</a:t>
            </a:r>
            <a:endParaRPr lang="en-US" sz="3800"/>
          </a:p>
          <a:p>
            <a:pPr marL="0" indent="0">
              <a:buNone/>
            </a:pPr>
            <a:r>
              <a:rPr lang="en-US" sz="3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Conclusion</a:t>
            </a:r>
            <a:endParaRPr lang="en-US" sz="3800"/>
          </a:p>
        </p:txBody>
      </p:sp>
      <p:sp>
        <p:nvSpPr>
          <p:cNvPr id="7" name="Text 5"/>
          <p:cNvSpPr/>
          <p:nvPr/>
        </p:nvSpPr>
        <p:spPr>
          <a:xfrm>
            <a:off x="457200" y="4079081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C3AED"/>
                </a:solidFill>
              </a:rPr>
              <a:t>Presented by: </a:t>
            </a:r>
            <a:r>
              <a:rPr lang="en-US" sz="1400" dirty="0" err="1">
                <a:solidFill>
                  <a:srgbClr val="7C3AED"/>
                </a:solidFill>
              </a:rPr>
              <a:t>Nouresham</a:t>
            </a:r>
            <a:r>
              <a:rPr lang="en-US" sz="1400" dirty="0">
                <a:solidFill>
                  <a:srgbClr val="7C3AED"/>
                </a:solidFill>
              </a:rPr>
              <a:t> </a:t>
            </a:r>
            <a:r>
              <a:rPr lang="en-US" sz="1400" dirty="0" err="1">
                <a:solidFill>
                  <a:srgbClr val="7C3AED"/>
                </a:solidFill>
              </a:rPr>
              <a:t>Katrmiz</a:t>
            </a:r>
            <a:r>
              <a:rPr lang="en-US" sz="1400" dirty="0">
                <a:solidFill>
                  <a:srgbClr val="7C3AED"/>
                </a:solidFill>
              </a:rPr>
              <a:t> </a:t>
            </a:r>
            <a:endParaRPr lang="en-US" sz="1400"/>
          </a:p>
        </p:txBody>
      </p:sp>
      <p:pic>
        <p:nvPicPr>
          <p:cNvPr id="2" name="Graphic 1" descr="Presentation with pie chart outline">
            <a:extLst>
              <a:ext uri="{FF2B5EF4-FFF2-40B4-BE49-F238E27FC236}">
                <a16:creationId xmlns:a16="http://schemas.microsoft.com/office/drawing/2014/main" id="{8EAADB27-C65E-9B11-47FC-A702DCF30D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36481" y="1735931"/>
            <a:ext cx="1743075" cy="174307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accent5">
                    <a:lumMod val="50000"/>
                  </a:schemeClr>
                </a:solidFill>
              </a:rPr>
              <a:t>PART 3  ›  MODEL EVALUATION</a:t>
            </a:r>
            <a:endParaRPr lang="en-US" sz="13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6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Classification Results: Building &amp; Floor</a:t>
            </a:r>
            <a:endParaRPr lang="en-US" sz="260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325880"/>
          <a:ext cx="51206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325880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577840" y="1325880"/>
            <a:ext cx="64008" cy="1051560"/>
          </a:xfrm>
          <a:prstGeom prst="rect">
            <a:avLst/>
          </a:prstGeom>
          <a:solidFill>
            <a:srgbClr val="0070C0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696712" y="1399032"/>
            <a:ext cx="306324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70C0"/>
                </a:solidFill>
              </a:rPr>
              <a:t>Best Classifier</a:t>
            </a:r>
            <a:endParaRPr lang="en-US" sz="1100">
              <a:solidFill>
                <a:srgbClr val="0070C0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5696712" y="1719072"/>
            <a:ext cx="3063240" cy="5669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dirty="0">
                <a:solidFill>
                  <a:srgbClr val="1E293B"/>
                </a:solidFill>
              </a:rPr>
              <a:t>Logistic Regression (Member 3) achieves perfect </a:t>
            </a:r>
            <a:r>
              <a:rPr lang="en-US" sz="1000">
                <a:solidFill>
                  <a:srgbClr val="1E293B"/>
                </a:solidFill>
              </a:rPr>
              <a:t>100% accuracy on building prediction buildings </a:t>
            </a:r>
            <a:r>
              <a:rPr lang="en-US" sz="1000" dirty="0">
                <a:solidFill>
                  <a:srgbClr val="1E293B"/>
                </a:solidFill>
              </a:rPr>
              <a:t>are linearly separable.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577840" y="2514600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577840" y="2514600"/>
            <a:ext cx="64008" cy="105156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696712" y="2587752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E9F6E"/>
                </a:solidFill>
              </a:rPr>
              <a:t>  MLP vs Decision Tree</a:t>
            </a:r>
            <a:endParaRPr lang="en-US" sz="1100"/>
          </a:p>
        </p:txBody>
      </p:sp>
      <p:sp>
        <p:nvSpPr>
          <p:cNvPr id="13" name="Text 10"/>
          <p:cNvSpPr/>
          <p:nvPr/>
        </p:nvSpPr>
        <p:spPr>
          <a:xfrm>
            <a:off x="5696712" y="2907792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MLP Neural Network (M2) outperforms Decision Tree (M1) by +15.5% on floor prediction (87.8% vs 72.3%).</a:t>
            </a:r>
            <a:endParaRPr lang="en-US" sz="1000"/>
          </a:p>
        </p:txBody>
      </p:sp>
      <p:sp>
        <p:nvSpPr>
          <p:cNvPr id="14" name="Shape 11"/>
          <p:cNvSpPr/>
          <p:nvPr/>
        </p:nvSpPr>
        <p:spPr>
          <a:xfrm>
            <a:off x="5577840" y="3703320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577840" y="3703320"/>
            <a:ext cx="64008" cy="1051560"/>
          </a:xfrm>
          <a:prstGeom prst="rect">
            <a:avLst/>
          </a:prstGeom>
          <a:solidFill>
            <a:srgbClr val="0070C0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696712" y="3776472"/>
            <a:ext cx="306324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70C0"/>
                </a:solidFill>
              </a:rPr>
              <a:t>  Floor Challenge</a:t>
            </a:r>
            <a:endParaRPr lang="en-US" sz="1100">
              <a:solidFill>
                <a:srgbClr val="0070C0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5696712" y="4096512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Floor 1 and Floor 2 are most confused due to RSSI signal leakage between adjacent floors in the multi-storey building.</a:t>
            </a:r>
            <a:endParaRPr lang="en-US" sz="1000"/>
          </a:p>
        </p:txBody>
      </p:sp>
    </p:spTree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accent5">
                    <a:lumMod val="50000"/>
                  </a:schemeClr>
                </a:solidFill>
              </a:rPr>
              <a:t>PART 3  ›  MODEL EVALUATION</a:t>
            </a:r>
            <a:endParaRPr lang="en-US" sz="13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463040" y="670560"/>
            <a:ext cx="822960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Regression Results: Coordinate Prediction</a:t>
            </a:r>
            <a:endParaRPr lang="en-US" sz="260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859216236"/>
              </p:ext>
            </p:extLst>
          </p:nvPr>
        </p:nvGraphicFramePr>
        <p:xfrm>
          <a:off x="365760" y="1402080"/>
          <a:ext cx="5029200" cy="3398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325880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623560" y="13258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chemeClr val="accent5">
                    <a:lumMod val="50000"/>
                  </a:schemeClr>
                </a:solidFill>
              </a:rPr>
              <a:t>XGBoost (M1)</a:t>
            </a:r>
            <a:endParaRPr lang="en-US" sz="11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5323871" y="1674634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A56DB"/>
                </a:solidFill>
              </a:rPr>
              <a:t>RMSE: 19.95m   MAE: 12.56m   R²: 0.9541</a:t>
            </a:r>
            <a:endParaRPr lang="en-US" sz="1050"/>
          </a:p>
        </p:txBody>
      </p:sp>
      <p:sp>
        <p:nvSpPr>
          <p:cNvPr id="10" name="Shape 7"/>
          <p:cNvSpPr/>
          <p:nvPr/>
        </p:nvSpPr>
        <p:spPr>
          <a:xfrm>
            <a:off x="5577840" y="2532888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623560" y="25328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chemeClr val="accent5">
                    <a:lumMod val="50000"/>
                  </a:schemeClr>
                </a:solidFill>
              </a:rPr>
              <a:t>Decision Tree (M2)</a:t>
            </a:r>
            <a:endParaRPr lang="en-US" sz="11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5323871" y="2881642"/>
            <a:ext cx="32004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7030A0"/>
                </a:solidFill>
              </a:rPr>
              <a:t>RMSE: 38.78m   MAE: 20.87m   R²: 0.8388</a:t>
            </a:r>
            <a:endParaRPr lang="en-US" sz="1050">
              <a:solidFill>
                <a:srgbClr val="7030A0"/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577840" y="3739896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623560" y="373989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chemeClr val="accent5">
                    <a:lumMod val="50000"/>
                  </a:schemeClr>
                </a:solidFill>
              </a:rPr>
              <a:t>Neural Net (M3)</a:t>
            </a:r>
            <a:endParaRPr lang="en-US" sz="11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5323871" y="4081681"/>
            <a:ext cx="32004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070C0"/>
                </a:solidFill>
              </a:rPr>
              <a:t>RMSE: 22.22m   MAE: 11.16m   R²: 0.9475</a:t>
            </a:r>
            <a:endParaRPr lang="en-US" sz="1050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accent5">
                    <a:lumMod val="50000"/>
                  </a:schemeClr>
                </a:solidFill>
              </a:rPr>
              <a:t>PART 3  ›  APPLIED ANALYSIS &amp; INTERPRETATION</a:t>
            </a:r>
            <a:endParaRPr lang="en-US" sz="13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256032" y="1353312"/>
            <a:ext cx="2724912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3533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chemeClr val="accent5">
                    <a:lumMod val="50000"/>
                  </a:schemeClr>
                </a:solidFill>
              </a:rPr>
              <a:t>  Airport &amp; Mall Navigation</a:t>
            </a:r>
            <a:endParaRPr lang="en-US" sz="11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1865376"/>
            <a:ext cx="2542032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Passengers navigate complex terminals using indoor maps updated in real-time. Our system achieves ~12–20m accuracy — sufficient for turn-by-turn guidance.</a:t>
            </a:r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3163824" y="1353312"/>
            <a:ext cx="2724912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73552" y="13533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chemeClr val="accent5">
                    <a:lumMod val="50000"/>
                  </a:schemeClr>
                </a:solidFill>
              </a:rPr>
              <a:t>  Emergency Response</a:t>
            </a:r>
            <a:endParaRPr lang="en-US" sz="11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73552" y="1865376"/>
            <a:ext cx="2542032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Firefighters and paramedics locate personnel inside smoke-filled buildings. Building + floor prediction guides responders to within one floor.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6071616" y="1353312"/>
            <a:ext cx="2724912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81344" y="13533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chemeClr val="accent5">
                    <a:lumMod val="50000"/>
                  </a:schemeClr>
                </a:solidFill>
              </a:rPr>
              <a:t>  Asset Tracking</a:t>
            </a:r>
            <a:endParaRPr lang="en-US" sz="11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181344" y="1865376"/>
            <a:ext cx="2542032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Warehouses track inventory carts, equipment, and packages. Coordinate regression at ~20m accuracy enables zone-level and aisle-level tracking.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256032" y="3090672"/>
            <a:ext cx="2724912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0906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chemeClr val="accent5">
                    <a:lumMod val="50000"/>
                  </a:schemeClr>
                </a:solidFill>
              </a:rPr>
              <a:t>  Hospital Wayfinding</a:t>
            </a:r>
            <a:endParaRPr lang="en-US" sz="11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365760" y="3602736"/>
            <a:ext cx="2542032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Patients and visitors navigate multi-floor hospital buildings. Floor classification + coordinate regression creates an accessible indoor GPS.</a:t>
            </a:r>
            <a:endParaRPr lang="en-US" sz="1050"/>
          </a:p>
        </p:txBody>
      </p:sp>
      <p:sp>
        <p:nvSpPr>
          <p:cNvPr id="21" name="Shape 19"/>
          <p:cNvSpPr/>
          <p:nvPr/>
        </p:nvSpPr>
        <p:spPr>
          <a:xfrm>
            <a:off x="3163824" y="3090672"/>
            <a:ext cx="2724912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73552" y="30906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chemeClr val="accent5">
                    <a:lumMod val="50000"/>
                  </a:schemeClr>
                </a:solidFill>
              </a:rPr>
              <a:t>Security &amp; Access Control</a:t>
            </a:r>
            <a:endParaRPr lang="en-US" sz="11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3273552" y="3602736"/>
            <a:ext cx="2542032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Detect unauthorized personnel in restricted zones. Building and floor classification flags access policy violations in real-time.</a:t>
            </a:r>
            <a:endParaRPr lang="en-US" sz="1050"/>
          </a:p>
        </p:txBody>
      </p:sp>
      <p:sp>
        <p:nvSpPr>
          <p:cNvPr id="25" name="Shape 23"/>
          <p:cNvSpPr/>
          <p:nvPr/>
        </p:nvSpPr>
        <p:spPr>
          <a:xfrm>
            <a:off x="6071616" y="3090672"/>
            <a:ext cx="2724912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81344" y="30906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chemeClr val="accent5">
                    <a:lumMod val="50000"/>
                  </a:schemeClr>
                </a:solidFill>
              </a:rPr>
              <a:t>  Crowd Analytics</a:t>
            </a:r>
            <a:endParaRPr lang="en-US" sz="11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6181344" y="3602736"/>
            <a:ext cx="2542032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Facility managers analyze foot traffic patterns, optimize space usage, and identify congestion hotspots using anonymized localization data.</a:t>
            </a:r>
            <a:endParaRPr lang="en-US" sz="1050"/>
          </a:p>
        </p:txBody>
      </p:sp>
    </p:spTree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</a:rPr>
              <a:t>PART 3  ›  STAKEHOLDER RELEVANCE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&amp; How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274320" y="1353312"/>
            <a:ext cx="3931920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35331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chemeClr val="bg1"/>
                </a:solidFill>
              </a:rPr>
              <a:t> Facility Managers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28292" y="1583975"/>
            <a:ext cx="393192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i="1">
                <a:solidFill>
                  <a:schemeClr val="bg2">
                    <a:lumMod val="49000"/>
                  </a:schemeClr>
                </a:solidFill>
              </a:rPr>
              <a:t>Needs: Space utilization, congestion analysis, maintenance routing</a:t>
            </a:r>
            <a:endParaRPr lang="en-US" sz="1000">
              <a:solidFill>
                <a:schemeClr val="bg2">
                  <a:lumMod val="49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21322" y="191578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Building + floor classification enables zone heatmaps. Coordinate regression identifies exact high-traffic areas for resource allocation.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4617720" y="1353312"/>
            <a:ext cx="3787726" cy="1399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27448" y="135331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chemeClr val="bg1"/>
                </a:solidFill>
              </a:rPr>
              <a:t> End Users / Visitors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20478" y="1625792"/>
            <a:ext cx="393192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i="1">
                <a:solidFill>
                  <a:schemeClr val="bg2">
                    <a:lumMod val="49000"/>
                  </a:schemeClr>
                </a:solidFill>
              </a:rPr>
              <a:t>Needs: Turn-by-turn indoor navigation, accessibility routing</a:t>
            </a:r>
            <a:endParaRPr lang="en-US" sz="1000">
              <a:solidFill>
                <a:schemeClr val="bg2">
                  <a:lumMod val="49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20478" y="187396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12–20m accuracy is sufficient for step-by-step guidance. Floor prediction ensures vertical navigation (elevator vs. stairs).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274320" y="3136392"/>
            <a:ext cx="40416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4048" y="31363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chemeClr val="bg1"/>
                </a:solidFill>
              </a:rPr>
              <a:t>Technology Developers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384048" y="3450689"/>
            <a:ext cx="393192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i="1">
                <a:solidFill>
                  <a:schemeClr val="bg2">
                    <a:lumMod val="49000"/>
                  </a:schemeClr>
                </a:solidFill>
              </a:rPr>
              <a:t>Needs: Scalable, device-agnostic, low-latency localization API</a:t>
            </a:r>
            <a:endParaRPr lang="en-US" sz="1000">
              <a:solidFill>
                <a:schemeClr val="bg2">
                  <a:lumMod val="49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384048" y="3740677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RSSI-based approach works on any WiFi-enabled device. XGBoost inference is fast enough for real-time mobile applications.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4617720" y="3136392"/>
            <a:ext cx="4041648" cy="14127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27448" y="31363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chemeClr val="bg1"/>
                </a:solidFill>
              </a:rPr>
              <a:t> Emergency Services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4727448" y="3450689"/>
            <a:ext cx="393192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i="1">
                <a:solidFill>
                  <a:schemeClr val="bg2">
                    <a:lumMod val="49000"/>
                  </a:schemeClr>
                </a:solidFill>
              </a:rPr>
              <a:t>Needs: Real-time personnel location inside buildings</a:t>
            </a:r>
            <a:endParaRPr lang="en-US" sz="1000">
              <a:solidFill>
                <a:schemeClr val="bg2">
                  <a:lumMod val="49000"/>
                </a:schemeClr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4720478" y="3594317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100% building accuracy + 87.8% floor accuracy gives responders floor-level situational awareness within seconds of deployment.</a:t>
            </a:r>
            <a:endParaRPr lang="en-US" sz="1050"/>
          </a:p>
        </p:txBody>
      </p:sp>
    </p:spTree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030A0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</a:rPr>
              <a:t>PART 3  ›  CONCLUSION &amp; FUTURE WORK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3649988" y="627158"/>
            <a:ext cx="1838558" cy="5625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/>
          </a:p>
        </p:txBody>
      </p:sp>
      <p:sp>
        <p:nvSpPr>
          <p:cNvPr id="7" name="Text 5"/>
          <p:cNvSpPr/>
          <p:nvPr/>
        </p:nvSpPr>
        <p:spPr>
          <a:xfrm>
            <a:off x="438912" y="129844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</a:rPr>
              <a:t>Building Classification</a:t>
            </a:r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2514600" y="1298448"/>
            <a:ext cx="1920240" cy="5669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50" b="1">
                <a:solidFill>
                  <a:schemeClr val="bg1"/>
                </a:solidFill>
              </a:rPr>
              <a:t>100% accuracy (Logistic Regression)</a:t>
            </a:r>
            <a:endParaRPr lang="en-US" sz="105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34922" y="1409960"/>
            <a:ext cx="64008" cy="566928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73752" y="129844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</a:rPr>
              <a:t>Floor Classification</a:t>
            </a:r>
            <a:endParaRPr lang="en-US" sz="1050"/>
          </a:p>
        </p:txBody>
      </p:sp>
      <p:sp>
        <p:nvSpPr>
          <p:cNvPr id="12" name="Text 10"/>
          <p:cNvSpPr/>
          <p:nvPr/>
        </p:nvSpPr>
        <p:spPr>
          <a:xfrm>
            <a:off x="6949440" y="1298448"/>
            <a:ext cx="1920240" cy="5669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50" b="1">
                <a:solidFill>
                  <a:schemeClr val="bg1"/>
                </a:solidFill>
              </a:rPr>
              <a:t>87.8% accuracy (Neural Network MLP)</a:t>
            </a:r>
            <a:endParaRPr lang="en-US" sz="105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38912" y="198424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</a:rPr>
              <a:t>Coordinate Regression</a:t>
            </a:r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2514600" y="1984248"/>
            <a:ext cx="1920240" cy="5669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50" b="1">
                <a:solidFill>
                  <a:schemeClr val="bg1"/>
                </a:solidFill>
              </a:rPr>
              <a:t>R² = 0.9541 / RMSE = 19.95m (</a:t>
            </a:r>
            <a:r>
              <a:rPr lang="en-US" sz="1050" b="1" err="1">
                <a:solidFill>
                  <a:schemeClr val="bg1"/>
                </a:solidFill>
              </a:rPr>
              <a:t>XGBoost</a:t>
            </a:r>
            <a:r>
              <a:rPr lang="en-US" sz="1050" b="1">
                <a:solidFill>
                  <a:schemeClr val="bg1"/>
                </a:solidFill>
              </a:rPr>
              <a:t>)</a:t>
            </a:r>
            <a:endParaRPr lang="en-US" sz="105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34921" y="1984248"/>
            <a:ext cx="64008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73752" y="198424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</a:rPr>
              <a:t>Best MAE</a:t>
            </a:r>
            <a:endParaRPr lang="en-US" sz="1050"/>
          </a:p>
        </p:txBody>
      </p:sp>
      <p:sp>
        <p:nvSpPr>
          <p:cNvPr id="20" name="Text 18"/>
          <p:cNvSpPr/>
          <p:nvPr/>
        </p:nvSpPr>
        <p:spPr>
          <a:xfrm>
            <a:off x="6949440" y="1984248"/>
            <a:ext cx="1920240" cy="5669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50" b="1">
                <a:solidFill>
                  <a:schemeClr val="bg1"/>
                </a:solidFill>
              </a:rPr>
              <a:t>11.16m (Neural Net MLP Regressor)</a:t>
            </a:r>
            <a:endParaRPr lang="en-US" sz="105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7200" y="28163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7FB3FF"/>
                </a:solidFill>
              </a:rPr>
              <a:t>Limitations &amp; Future Work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457200" y="3218688"/>
            <a:ext cx="8229600" cy="1371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• </a:t>
            </a:r>
            <a:r>
              <a:rPr lang="en-US" sz="1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Signal variability: RSSI readings are affected by device heterogeneity (different phones, orientations), a </a:t>
            </a:r>
            <a:r>
              <a:rPr lang="en-US" sz="14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device-adaptive calibration layer could improve robustness</a:t>
            </a:r>
          </a:p>
          <a:p>
            <a:pPr marL="0" indent="0">
              <a:buNone/>
            </a:pPr>
            <a:r>
              <a:rPr lang="en-US" sz="1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• Floor accuracy: 87.8% floor classification leaves room for improvement ensemble voting or hierarchical </a:t>
            </a:r>
            <a:r>
              <a:rPr lang="en-US" sz="14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classification (predict building first, then floor) could help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• Real-time deployment: future work could implement the model as a REST API, integrating with mobile apps for live indoor navigation using on-device </a:t>
            </a:r>
            <a:r>
              <a:rPr lang="en-US" sz="140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WiFi</a:t>
            </a:r>
            <a:r>
              <a:rPr lang="en-US" sz="14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scanning</a:t>
            </a:r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262814c-8274-4210-84bd-04cd5cd7a63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076D0DED9E2C4BB5182E69CE2A9149" ma:contentTypeVersion="15" ma:contentTypeDescription="Create a new document." ma:contentTypeScope="" ma:versionID="79223462691e4a29009e482759026921">
  <xsd:schema xmlns:xsd="http://www.w3.org/2001/XMLSchema" xmlns:xs="http://www.w3.org/2001/XMLSchema" xmlns:p="http://schemas.microsoft.com/office/2006/metadata/properties" xmlns:ns3="f262814c-8274-4210-84bd-04cd5cd7a636" xmlns:ns4="bcd3822b-cb82-4baf-88c1-220e173cd4c6" targetNamespace="http://schemas.microsoft.com/office/2006/metadata/properties" ma:root="true" ma:fieldsID="19add206a7e7dbd7b58cf78366529a7e" ns3:_="" ns4:_="">
    <xsd:import namespace="f262814c-8274-4210-84bd-04cd5cd7a636"/>
    <xsd:import namespace="bcd3822b-cb82-4baf-88c1-220e173cd4c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62814c-8274-4210-84bd-04cd5cd7a6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d3822b-cb82-4baf-88c1-220e173cd4c6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027E13A-1911-49B4-8681-3B8BD25F9E6A}">
  <ds:schemaRefs>
    <ds:schemaRef ds:uri="bcd3822b-cb82-4baf-88c1-220e173cd4c6"/>
    <ds:schemaRef ds:uri="f262814c-8274-4210-84bd-04cd5cd7a63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93997A8-2144-43F0-B50E-5C828F37EBE9}">
  <ds:schemaRefs>
    <ds:schemaRef ds:uri="bcd3822b-cb82-4baf-88c1-220e173cd4c6"/>
    <ds:schemaRef ds:uri="f262814c-8274-4210-84bd-04cd5cd7a63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9EEC64A-EB33-41F5-AE7D-8745D08C739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(16:9)</PresentationFormat>
  <Slides>19</Slides>
  <Notes>19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Indoor Localization Using WLAN Fingerprinting</dc:title>
  <dc:subject>PptxGenJS Presentation</dc:subject>
  <dc:creator>DSAI 3201 Team</dc:creator>
  <cp:revision>324</cp:revision>
  <dcterms:created xsi:type="dcterms:W3CDTF">2026-04-04T11:20:19Z</dcterms:created>
  <dcterms:modified xsi:type="dcterms:W3CDTF">2026-04-05T11:00:26Z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0x010100BD076D0DED9E2C4BB5182E69CE2A9149</vt:lpwstr>
  </property>
</Properties>
</file>